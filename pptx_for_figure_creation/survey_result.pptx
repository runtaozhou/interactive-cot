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  <a:srgbClr val="73C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7"/>
    <p:restoredTop sz="94718"/>
  </p:normalViewPr>
  <p:slideViewPr>
    <p:cSldViewPr snapToGrid="0">
      <p:cViewPr>
        <p:scale>
          <a:sx n="89" d="100"/>
          <a:sy n="89" d="100"/>
        </p:scale>
        <p:origin x="79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3014F-ADAA-7D40-93F3-22691330B0C0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3F620-6E54-784D-A2C4-3B921F9714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6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3F620-6E54-784D-A2C4-3B921F9714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164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B8B6-6CD3-E10A-37C9-423CF3D5A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E50E1-5AC8-96B5-D25F-828F6F62D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AB870-6D00-CCD4-BC3E-7C378E42F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05D11-E51F-A725-B1F2-AD21B8ACA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CD921-614A-9940-AF5F-2AD09833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751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828B-95CB-714B-95C6-82B069589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73E29-E491-3A61-427B-92A166DA2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9C309-62CD-3FDB-730E-E76870BE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6C279-ADB5-5E0B-0751-DC3668D1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BCDC9-629F-CE86-E2F2-46DA72F3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16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C0F2-FED6-F57E-9646-A0A4C11FE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D5E4E-EDDF-4ACC-5DC7-D408CD6C2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42E7C-E14A-8071-9E5E-6A264227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D299F-9536-9948-BD44-ED967EED8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9D732-FFB9-22C7-40CB-83A5CA6D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08DE6-AE6C-45F9-1BB7-4F75EF2A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0ADB-9754-C013-AD2E-CF9A316AC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65C77-1718-A554-20DB-61CC4DEC8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9B486-A3BC-31CA-8EEE-E445CD03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96A0B-AA56-FA58-961C-202DA0F6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84E60-D39D-CBC0-DE3C-5ED99AF9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54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D134-C536-9ECA-0B03-C37414B1E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3E1F7-8874-3732-526B-3EFE79803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C6BC47-31EE-1E44-28BC-13D302762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AB6B4D-4768-3EF6-05CC-81889A59AE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580E56-22B2-35E8-6DE7-BDBF6E9983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1D7A3-9F17-D036-CCD8-E471D86E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4C0314-A1A7-9408-D7AF-39DD5F5C8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D8136-A937-D713-4DE0-E0F8F41BB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08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C28D-97C7-A5AB-B6EA-11055825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9FD3A0-724E-D7D7-F210-4E65E4879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341C6-BAE3-9F29-7308-57F80810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8EB74-0A7B-3873-5FDF-680F2D49F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151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DA5D3-A69C-7424-3D49-0843BD29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393C61-23B7-9A2E-D807-8D125B54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D4C94-CE9E-A82E-1C89-DCC4D1B0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4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BC5E7-5A84-4918-AE56-C03AB4283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6C070-B464-786B-3CD5-55646406C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E15B-6124-E232-8574-143813125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3FE57-B45A-CED3-1909-57D850AE5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35709-CD8C-245F-31BB-82B30D31D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7FA87-13B3-B015-4453-CC55FE1E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77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78EEE-BEE2-C907-BF46-15DC87123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708B8-5149-1E84-0838-95D0BAEA9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9626E-486F-34B0-A849-B92031696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126BC-447E-10CD-A3BB-BB2BB0D0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E9E30-1C75-1CCA-02D1-38ABD7A4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D3613-6C75-74CB-57D1-CE3D34F2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8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06E3-76F1-19B9-DFF1-A20E0BB3F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1EF8B-54C4-7A0B-C78F-C3AD027E3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569EF-EA3F-DFD4-D173-EA5EA348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61F26-6801-7E95-7092-3837D9CC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198E3-B3D4-3406-09F5-3C8EDB4AC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2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88909E-099E-E9E0-0BE9-69D9013C3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466F2-95CD-BA40-1A32-3B308EA98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5408A-D6B5-C67B-4C5D-3B8E28CA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B53B4-A512-422B-0CA2-9BE29727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4DC08-C951-72D9-857C-27946631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09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F3473E-F8E2-726A-EB38-1B7A860DF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63822-4B3E-9BFA-9F44-04D6A09A1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DFAC0-30D6-4DDF-6CF3-11F9E946B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87B080-6EFE-3040-A53F-357DCE556A4A}" type="datetimeFigureOut">
              <a:rPr lang="en-US" smtClean="0"/>
              <a:t>10/9/25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578A7-F22A-E4A9-226D-ED0AF45EA4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B276C-F3BF-440E-D027-F84F97CE1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486A9-56E1-9344-B158-99F377405E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4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FEAF824-30DE-EA7F-FD9E-4410BE0F1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691" y="185608"/>
            <a:ext cx="3720940" cy="20387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8A5099-A493-1ABA-CBE3-7060E099C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9049" y="189442"/>
            <a:ext cx="3720940" cy="2038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146D23-F953-ECC3-981D-49656BA929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5" y="192121"/>
            <a:ext cx="3720928" cy="20387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94E898-BAE3-DF0F-6C10-3F23382686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45" y="4706748"/>
            <a:ext cx="3720928" cy="20387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3A9F68-EFB7-7738-350D-16977A4CA0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9049" y="4706748"/>
            <a:ext cx="3720926" cy="20387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971AD9-25EE-6077-50A9-00A0FB03E8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2024" y="2354606"/>
            <a:ext cx="3720924" cy="20387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BE5F85-1F81-B705-AFB5-D7A0F0CCDF7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45" y="2381165"/>
            <a:ext cx="3720938" cy="2038764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967989D-684A-6483-CD67-F2C3A8F1F96B}"/>
              </a:ext>
            </a:extLst>
          </p:cNvPr>
          <p:cNvSpPr/>
          <p:nvPr/>
        </p:nvSpPr>
        <p:spPr>
          <a:xfrm>
            <a:off x="3946312" y="2813529"/>
            <a:ext cx="4283181" cy="3893374"/>
          </a:xfrm>
          <a:prstGeom prst="rect">
            <a:avLst/>
          </a:prstGeom>
          <a:solidFill>
            <a:srgbClr val="D1D1D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E2BA45-C998-8A84-CE4C-4D9A85A9BFEC}"/>
              </a:ext>
            </a:extLst>
          </p:cNvPr>
          <p:cNvSpPr txBox="1"/>
          <p:nvPr/>
        </p:nvSpPr>
        <p:spPr>
          <a:xfrm>
            <a:off x="4049989" y="2832365"/>
            <a:ext cx="4163309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/>
              <a:t>G1:</a:t>
            </a:r>
            <a:r>
              <a:rPr lang="en-US" sz="1300" dirty="0"/>
              <a:t> This explanation format helped me understand how the problem was solved.</a:t>
            </a:r>
          </a:p>
          <a:p>
            <a:r>
              <a:rPr lang="en-US" sz="1300" b="1" dirty="0"/>
              <a:t>G2: </a:t>
            </a:r>
            <a:r>
              <a:rPr lang="en-US" sz="1300" dirty="0"/>
              <a:t>This explanation format made it easier to identify incorrect reasoning or faulty steps.</a:t>
            </a:r>
          </a:p>
          <a:p>
            <a:r>
              <a:rPr lang="en-US" sz="1300" b="1" dirty="0"/>
              <a:t>G3:</a:t>
            </a:r>
            <a:r>
              <a:rPr lang="en-US" sz="1300" dirty="0"/>
              <a:t>The experience of using this explanation format was engaging.</a:t>
            </a:r>
          </a:p>
          <a:p>
            <a:r>
              <a:rPr lang="en-US" sz="1300" b="1" dirty="0"/>
              <a:t>G4: </a:t>
            </a:r>
            <a:r>
              <a:rPr lang="en-US" sz="1300" dirty="0"/>
              <a:t>Given the choice, I would prefer to study math problems using this explanation format in the future.</a:t>
            </a:r>
          </a:p>
          <a:p>
            <a:r>
              <a:rPr lang="en-US" sz="1300" b="1" dirty="0"/>
              <a:t>G5: </a:t>
            </a:r>
            <a:r>
              <a:rPr lang="en-US" sz="1300" dirty="0"/>
              <a:t>Overall, I was satisfied with this explanation experience.</a:t>
            </a:r>
            <a:endParaRPr lang="en-US" sz="1300" b="1" dirty="0"/>
          </a:p>
          <a:p>
            <a:r>
              <a:rPr lang="en-US" sz="1300" b="1" dirty="0"/>
              <a:t>D1: </a:t>
            </a:r>
            <a:r>
              <a:rPr lang="en-US" sz="1300" dirty="0"/>
              <a:t>The dual-panel layout (problem on the left, explanation on the right) made it easier to connect the explanation to the original problem.</a:t>
            </a:r>
          </a:p>
          <a:p>
            <a:r>
              <a:rPr lang="en-US" sz="1300" b="1" dirty="0"/>
              <a:t>D2: </a:t>
            </a:r>
            <a:r>
              <a:rPr lang="en-US" sz="1300" dirty="0"/>
              <a:t>The problem summary helped me quickly identify the key variables and constraints.</a:t>
            </a:r>
          </a:p>
          <a:p>
            <a:r>
              <a:rPr lang="en-US" sz="1300" b="1" dirty="0"/>
              <a:t>D3:</a:t>
            </a:r>
            <a:r>
              <a:rPr lang="en-US" sz="1300" dirty="0"/>
              <a:t>Color coding made it easier to trace variables consistently across steps.</a:t>
            </a:r>
          </a:p>
          <a:p>
            <a:r>
              <a:rPr lang="en-US" sz="1300" b="1" dirty="0"/>
              <a:t>D4: </a:t>
            </a:r>
            <a:r>
              <a:rPr lang="en-US" sz="1300" dirty="0"/>
              <a:t>Showing one step at a time improved the clarity of the explanation.</a:t>
            </a:r>
            <a:endParaRPr lang="en-US" sz="1300" b="1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9AA33EC-AA84-0A02-F35E-4051A9AE8249}"/>
              </a:ext>
            </a:extLst>
          </p:cNvPr>
          <p:cNvCxnSpPr>
            <a:cxnSpLocks/>
          </p:cNvCxnSpPr>
          <p:nvPr/>
        </p:nvCxnSpPr>
        <p:spPr>
          <a:xfrm>
            <a:off x="331653" y="418356"/>
            <a:ext cx="0" cy="1586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C56C02B-4862-A78C-E3CA-2AA8ECE82B23}"/>
              </a:ext>
            </a:extLst>
          </p:cNvPr>
          <p:cNvCxnSpPr>
            <a:cxnSpLocks/>
          </p:cNvCxnSpPr>
          <p:nvPr/>
        </p:nvCxnSpPr>
        <p:spPr>
          <a:xfrm>
            <a:off x="331653" y="2008368"/>
            <a:ext cx="32470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DC36603-D822-7B16-3072-4D8CC55B7C20}"/>
              </a:ext>
            </a:extLst>
          </p:cNvPr>
          <p:cNvCxnSpPr>
            <a:cxnSpLocks/>
          </p:cNvCxnSpPr>
          <p:nvPr/>
        </p:nvCxnSpPr>
        <p:spPr>
          <a:xfrm>
            <a:off x="331653" y="2611126"/>
            <a:ext cx="0" cy="1586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5A151CA-0E92-7773-4BFE-899ED9EE20C8}"/>
              </a:ext>
            </a:extLst>
          </p:cNvPr>
          <p:cNvCxnSpPr>
            <a:cxnSpLocks/>
          </p:cNvCxnSpPr>
          <p:nvPr/>
        </p:nvCxnSpPr>
        <p:spPr>
          <a:xfrm>
            <a:off x="331653" y="4201138"/>
            <a:ext cx="32470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53D4F13-CF1B-4355-518B-D12996C117E9}"/>
              </a:ext>
            </a:extLst>
          </p:cNvPr>
          <p:cNvCxnSpPr>
            <a:cxnSpLocks/>
          </p:cNvCxnSpPr>
          <p:nvPr/>
        </p:nvCxnSpPr>
        <p:spPr>
          <a:xfrm>
            <a:off x="331653" y="4942885"/>
            <a:ext cx="0" cy="1586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78453AF-CBB7-F5C8-8DC4-58C3D300F0F0}"/>
              </a:ext>
            </a:extLst>
          </p:cNvPr>
          <p:cNvCxnSpPr>
            <a:cxnSpLocks/>
          </p:cNvCxnSpPr>
          <p:nvPr/>
        </p:nvCxnSpPr>
        <p:spPr>
          <a:xfrm>
            <a:off x="331653" y="6532897"/>
            <a:ext cx="32470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48D92CE3-7463-92A1-6006-56C53A3170B0}"/>
              </a:ext>
            </a:extLst>
          </p:cNvPr>
          <p:cNvCxnSpPr>
            <a:cxnSpLocks/>
          </p:cNvCxnSpPr>
          <p:nvPr/>
        </p:nvCxnSpPr>
        <p:spPr>
          <a:xfrm>
            <a:off x="4448146" y="418356"/>
            <a:ext cx="0" cy="1586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7D3EFD0-79D4-57AB-5B95-AF0261D09005}"/>
              </a:ext>
            </a:extLst>
          </p:cNvPr>
          <p:cNvCxnSpPr>
            <a:cxnSpLocks/>
          </p:cNvCxnSpPr>
          <p:nvPr/>
        </p:nvCxnSpPr>
        <p:spPr>
          <a:xfrm>
            <a:off x="4448146" y="2008368"/>
            <a:ext cx="32470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3BCE27E3-61A4-F6E1-799E-B65ACAE5EA31}"/>
              </a:ext>
            </a:extLst>
          </p:cNvPr>
          <p:cNvCxnSpPr>
            <a:cxnSpLocks/>
          </p:cNvCxnSpPr>
          <p:nvPr/>
        </p:nvCxnSpPr>
        <p:spPr>
          <a:xfrm>
            <a:off x="8555531" y="418356"/>
            <a:ext cx="0" cy="1586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2E10A49-7AAE-B607-52C8-32BABA6DE73E}"/>
              </a:ext>
            </a:extLst>
          </p:cNvPr>
          <p:cNvCxnSpPr>
            <a:cxnSpLocks/>
          </p:cNvCxnSpPr>
          <p:nvPr/>
        </p:nvCxnSpPr>
        <p:spPr>
          <a:xfrm>
            <a:off x="8555531" y="2008368"/>
            <a:ext cx="32470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0DECDC8E-1D98-5F51-2293-6F7A29410F57}"/>
              </a:ext>
            </a:extLst>
          </p:cNvPr>
          <p:cNvCxnSpPr>
            <a:cxnSpLocks/>
          </p:cNvCxnSpPr>
          <p:nvPr/>
        </p:nvCxnSpPr>
        <p:spPr>
          <a:xfrm>
            <a:off x="8555531" y="2607403"/>
            <a:ext cx="0" cy="1586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D46941D-7B42-3F5B-52E1-8349CEE2FA86}"/>
              </a:ext>
            </a:extLst>
          </p:cNvPr>
          <p:cNvCxnSpPr>
            <a:cxnSpLocks/>
          </p:cNvCxnSpPr>
          <p:nvPr/>
        </p:nvCxnSpPr>
        <p:spPr>
          <a:xfrm>
            <a:off x="8555531" y="4197415"/>
            <a:ext cx="32470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AAF6BE9-FC36-BE93-33AA-811CDB66F993}"/>
              </a:ext>
            </a:extLst>
          </p:cNvPr>
          <p:cNvCxnSpPr>
            <a:cxnSpLocks/>
          </p:cNvCxnSpPr>
          <p:nvPr/>
        </p:nvCxnSpPr>
        <p:spPr>
          <a:xfrm>
            <a:off x="8555531" y="4956463"/>
            <a:ext cx="0" cy="15862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7C35F11-8D9B-A235-01EE-EF1E0FB67757}"/>
              </a:ext>
            </a:extLst>
          </p:cNvPr>
          <p:cNvCxnSpPr>
            <a:cxnSpLocks/>
          </p:cNvCxnSpPr>
          <p:nvPr/>
        </p:nvCxnSpPr>
        <p:spPr>
          <a:xfrm>
            <a:off x="8555531" y="6546475"/>
            <a:ext cx="324705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7" name="Picture 86">
            <a:extLst>
              <a:ext uri="{FF2B5EF4-FFF2-40B4-BE49-F238E27FC236}">
                <a16:creationId xmlns:a16="http://schemas.microsoft.com/office/drawing/2014/main" id="{4442945F-56A4-0339-D8F8-EE0306670B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8632" y="2243209"/>
            <a:ext cx="4786899" cy="43885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C9B4175-FA51-B151-4F29-4639E78C17A9}"/>
              </a:ext>
            </a:extLst>
          </p:cNvPr>
          <p:cNvSpPr txBox="1"/>
          <p:nvPr/>
        </p:nvSpPr>
        <p:spPr>
          <a:xfrm>
            <a:off x="1360384" y="116023"/>
            <a:ext cx="41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"/>
                <a:cs typeface="Aldhabi" panose="020F0502020204030204" pitchFamily="34" charset="0"/>
              </a:rPr>
              <a:t>A)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23F4F7-6086-6888-7568-AB71FA109072}"/>
              </a:ext>
            </a:extLst>
          </p:cNvPr>
          <p:cNvSpPr txBox="1"/>
          <p:nvPr/>
        </p:nvSpPr>
        <p:spPr>
          <a:xfrm>
            <a:off x="1360384" y="2308793"/>
            <a:ext cx="41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"/>
                <a:cs typeface="Aldhabi" panose="020F0502020204030204" pitchFamily="34" charset="0"/>
              </a:rPr>
              <a:t>B)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72D83F-2484-71C6-F7D7-AD03236AE202}"/>
              </a:ext>
            </a:extLst>
          </p:cNvPr>
          <p:cNvSpPr txBox="1"/>
          <p:nvPr/>
        </p:nvSpPr>
        <p:spPr>
          <a:xfrm>
            <a:off x="1284775" y="4621715"/>
            <a:ext cx="41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"/>
                <a:cs typeface="Aldhabi" panose="020F0502020204030204" pitchFamily="34" charset="0"/>
              </a:rPr>
              <a:t>C)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A6C3B0-6194-BA4E-9AD6-3DAB871699B4}"/>
              </a:ext>
            </a:extLst>
          </p:cNvPr>
          <p:cNvSpPr txBox="1"/>
          <p:nvPr/>
        </p:nvSpPr>
        <p:spPr>
          <a:xfrm>
            <a:off x="5458265" y="112494"/>
            <a:ext cx="41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"/>
                <a:cs typeface="Aldhabi" panose="020F0502020204030204" pitchFamily="34" charset="0"/>
              </a:rPr>
              <a:t>D)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21A1B2-1788-C77A-6B7B-236A0DA9B9D0}"/>
              </a:ext>
            </a:extLst>
          </p:cNvPr>
          <p:cNvSpPr txBox="1"/>
          <p:nvPr/>
        </p:nvSpPr>
        <p:spPr>
          <a:xfrm>
            <a:off x="9566623" y="112495"/>
            <a:ext cx="41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"/>
                <a:cs typeface="Aldhabi" panose="020F0502020204030204" pitchFamily="34" charset="0"/>
              </a:rPr>
              <a:t>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1E53D2-A8DE-73FC-D9EB-0DA1EDCF5671}"/>
              </a:ext>
            </a:extLst>
          </p:cNvPr>
          <p:cNvSpPr txBox="1"/>
          <p:nvPr/>
        </p:nvSpPr>
        <p:spPr>
          <a:xfrm>
            <a:off x="9579600" y="2275678"/>
            <a:ext cx="41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"/>
                <a:cs typeface="Aldhabi" panose="020F0502020204030204" pitchFamily="34" charset="0"/>
              </a:rPr>
              <a:t>F)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F366F5-BB5A-E6E0-F09F-A84ACE134BDF}"/>
              </a:ext>
            </a:extLst>
          </p:cNvPr>
          <p:cNvSpPr txBox="1"/>
          <p:nvPr/>
        </p:nvSpPr>
        <p:spPr>
          <a:xfrm>
            <a:off x="9471672" y="4640552"/>
            <a:ext cx="4136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"/>
                <a:cs typeface="Aldhabi" panose="020F0502020204030204" pitchFamily="34" charset="0"/>
              </a:rPr>
              <a:t>G)</a:t>
            </a:r>
          </a:p>
        </p:txBody>
      </p:sp>
    </p:spTree>
    <p:extLst>
      <p:ext uri="{BB962C8B-B14F-4D97-AF65-F5344CB8AC3E}">
        <p14:creationId xmlns:p14="http://schemas.microsoft.com/office/powerpoint/2010/main" val="348751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15042</TotalTime>
  <Words>162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Runtao</dc:creator>
  <cp:lastModifiedBy>Zhou, Runtao</cp:lastModifiedBy>
  <cp:revision>4</cp:revision>
  <dcterms:created xsi:type="dcterms:W3CDTF">2025-10-08T01:10:45Z</dcterms:created>
  <dcterms:modified xsi:type="dcterms:W3CDTF">2025-10-19T04:58:34Z</dcterms:modified>
</cp:coreProperties>
</file>