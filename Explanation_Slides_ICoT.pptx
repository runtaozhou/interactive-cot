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1"/>
  </p:sldMasterIdLst>
  <p:notesMasterIdLst>
    <p:notesMasterId r:id="rId16"/>
  </p:notesMasterIdLst>
  <p:sldIdLst>
    <p:sldId id="278" r:id="rId2"/>
    <p:sldId id="279" r:id="rId3"/>
    <p:sldId id="280" r:id="rId4"/>
    <p:sldId id="281" r:id="rId5"/>
    <p:sldId id="282" r:id="rId6"/>
    <p:sldId id="283" r:id="rId7"/>
    <p:sldId id="284" r:id="rId8"/>
    <p:sldId id="285" r:id="rId9"/>
    <p:sldId id="286" r:id="rId10"/>
    <p:sldId id="287" r:id="rId11"/>
    <p:sldId id="288" r:id="rId12"/>
    <p:sldId id="289" r:id="rId13"/>
    <p:sldId id="290" r:id="rId14"/>
    <p:sldId id="29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80"/>
    <p:restoredTop sz="73937"/>
  </p:normalViewPr>
  <p:slideViewPr>
    <p:cSldViewPr snapToGrid="0">
      <p:cViewPr>
        <p:scale>
          <a:sx n="78" d="100"/>
          <a:sy n="78" d="100"/>
        </p:scale>
        <p:origin x="180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1A406A-C8DF-A343-9DBF-77FA88112CEC}" type="datetimeFigureOut">
              <a:rPr lang="en-US" smtClean="0"/>
              <a:t>10/19/25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4B724-439D-E046-A796-A3347318E560}" type="slidenum">
              <a:rPr lang="en-US" smtClean="0"/>
              <a:t>‹#›</a:t>
            </a:fld>
            <a:endParaRPr lang="en-US"/>
          </a:p>
        </p:txBody>
      </p:sp>
    </p:spTree>
    <p:extLst>
      <p:ext uri="{BB962C8B-B14F-4D97-AF65-F5344CB8AC3E}">
        <p14:creationId xmlns:p14="http://schemas.microsoft.com/office/powerpoint/2010/main" val="3070194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 everyone, my name is </a:t>
            </a:r>
            <a:r>
              <a:rPr lang="en-US" b="1" dirty="0"/>
              <a:t>Runtao Zhou</a:t>
            </a:r>
            <a:r>
              <a:rPr lang="en-US" dirty="0"/>
              <a:t>, and in this video I am going to brief explain the research project along with a live demo.  this project is a collaboration from </a:t>
            </a:r>
            <a:r>
              <a:rPr lang="en-US" b="1" dirty="0"/>
              <a:t>University of Virginia</a:t>
            </a:r>
            <a:r>
              <a:rPr lang="en-US" dirty="0"/>
              <a:t> and </a:t>
            </a:r>
            <a:r>
              <a:rPr lang="en-US" b="1" dirty="0"/>
              <a:t>Auburn University</a:t>
            </a:r>
            <a:endParaRPr lang="en-US" dirty="0"/>
          </a:p>
        </p:txBody>
      </p:sp>
      <p:sp>
        <p:nvSpPr>
          <p:cNvPr id="4" name="Slide Number Placeholder 3"/>
          <p:cNvSpPr>
            <a:spLocks noGrp="1"/>
          </p:cNvSpPr>
          <p:nvPr>
            <p:ph type="sldNum" sz="quarter" idx="5"/>
          </p:nvPr>
        </p:nvSpPr>
        <p:spPr/>
        <p:txBody>
          <a:bodyPr/>
          <a:lstStyle/>
          <a:p>
            <a:fld id="{83C4B724-439D-E046-A796-A3347318E560}" type="slidenum">
              <a:rPr lang="en-US" smtClean="0"/>
              <a:t>1</a:t>
            </a:fld>
            <a:endParaRPr lang="en-US"/>
          </a:p>
        </p:txBody>
      </p:sp>
    </p:spTree>
    <p:extLst>
      <p:ext uri="{BB962C8B-B14F-4D97-AF65-F5344CB8AC3E}">
        <p14:creationId xmlns:p14="http://schemas.microsoft.com/office/powerpoint/2010/main" val="3435559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21840-5268-819E-D175-A1E5F673F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F0BBB-94AA-67C9-C5C9-BC5B4A775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637D4-84B9-3F8D-88DB-7390E7DB62B3}"/>
              </a:ext>
            </a:extLst>
          </p:cNvPr>
          <p:cNvSpPr>
            <a:spLocks noGrp="1"/>
          </p:cNvSpPr>
          <p:nvPr>
            <p:ph type="body" idx="1"/>
          </p:nvPr>
        </p:nvSpPr>
        <p:spPr/>
        <p:txBody>
          <a:bodyPr/>
          <a:lstStyle/>
          <a:p>
            <a:r>
              <a:rPr lang="en-US" dirty="0"/>
              <a:t>Our work focuses on how people interact with explanations generated by large language models.</a:t>
            </a:r>
            <a:br>
              <a:rPr lang="en-US" dirty="0"/>
            </a:br>
            <a:r>
              <a:rPr lang="en-US" dirty="0"/>
              <a:t>Today, models like GPT or Claude often produce long, text-heavy reasoning — what we call </a:t>
            </a:r>
            <a:r>
              <a:rPr lang="en-US" i="1" dirty="0"/>
              <a:t>chain-of-thought explanations</a:t>
            </a:r>
            <a:r>
              <a:rPr lang="en-US" dirty="0"/>
              <a:t>.</a:t>
            </a:r>
            <a:br>
              <a:rPr lang="en-US" dirty="0"/>
            </a:br>
            <a:r>
              <a:rPr lang="en-US" dirty="0"/>
              <a:t>While these can make a model’s thinking more transparent, they’re not always easy for humans to read or verify. </a:t>
            </a:r>
          </a:p>
          <a:p>
            <a:r>
              <a:rPr lang="en-US" dirty="0"/>
              <a:t>So instead of changing how the model reasons, we explored changing </a:t>
            </a:r>
            <a:r>
              <a:rPr lang="en-US" b="1" dirty="0"/>
              <a:t>how its reasoning is presented</a:t>
            </a:r>
            <a:r>
              <a:rPr lang="en-US" dirty="0"/>
              <a:t>.</a:t>
            </a:r>
          </a:p>
        </p:txBody>
      </p:sp>
      <p:sp>
        <p:nvSpPr>
          <p:cNvPr id="4" name="Slide Number Placeholder 3">
            <a:extLst>
              <a:ext uri="{FF2B5EF4-FFF2-40B4-BE49-F238E27FC236}">
                <a16:creationId xmlns:a16="http://schemas.microsoft.com/office/drawing/2014/main" id="{07B76FAD-1C81-1123-5105-09DCFA9E8B0A}"/>
              </a:ext>
            </a:extLst>
          </p:cNvPr>
          <p:cNvSpPr>
            <a:spLocks noGrp="1"/>
          </p:cNvSpPr>
          <p:nvPr>
            <p:ph type="sldNum" sz="quarter" idx="5"/>
          </p:nvPr>
        </p:nvSpPr>
        <p:spPr/>
        <p:txBody>
          <a:bodyPr/>
          <a:lstStyle/>
          <a:p>
            <a:fld id="{83C4B724-439D-E046-A796-A3347318E560}" type="slidenum">
              <a:rPr lang="en-US" smtClean="0"/>
              <a:t>2</a:t>
            </a:fld>
            <a:endParaRPr lang="en-US"/>
          </a:p>
        </p:txBody>
      </p:sp>
    </p:spTree>
    <p:extLst>
      <p:ext uri="{BB962C8B-B14F-4D97-AF65-F5344CB8AC3E}">
        <p14:creationId xmlns:p14="http://schemas.microsoft.com/office/powerpoint/2010/main" val="1498948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33DC-94B7-447A-0AC0-B39AC763B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73389-2D27-DF17-FF1D-CE89E1BB1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20963-2483-B5E1-5482-1B63C28007C5}"/>
              </a:ext>
            </a:extLst>
          </p:cNvPr>
          <p:cNvSpPr>
            <a:spLocks noGrp="1"/>
          </p:cNvSpPr>
          <p:nvPr>
            <p:ph type="body" idx="1"/>
          </p:nvPr>
        </p:nvSpPr>
        <p:spPr/>
        <p:txBody>
          <a:bodyPr/>
          <a:lstStyle/>
          <a:p>
            <a:pPr marL="0" lvl="0" indent="0" algn="l" rtl="0">
              <a:lnSpc>
                <a:spcPct val="100000"/>
              </a:lnSpc>
              <a:spcBef>
                <a:spcPts val="0"/>
              </a:spcBef>
              <a:spcAft>
                <a:spcPts val="0"/>
              </a:spcAft>
              <a:buSzPts val="1100"/>
              <a:buNone/>
            </a:pPr>
            <a:r>
              <a:rPr lang="en-US" dirty="0"/>
              <a:t>We created several </a:t>
            </a:r>
            <a:r>
              <a:rPr lang="en-US" b="1" dirty="0"/>
              <a:t>interactive explanation interfaces</a:t>
            </a:r>
            <a:r>
              <a:rPr lang="en-US" dirty="0"/>
              <a:t> that transform the same reasoning into different formats — such as structured text, code, and visual graphs — to help people follow the logic step by step.</a:t>
            </a:r>
          </a:p>
        </p:txBody>
      </p:sp>
      <p:sp>
        <p:nvSpPr>
          <p:cNvPr id="4" name="Slide Number Placeholder 3">
            <a:extLst>
              <a:ext uri="{FF2B5EF4-FFF2-40B4-BE49-F238E27FC236}">
                <a16:creationId xmlns:a16="http://schemas.microsoft.com/office/drawing/2014/main" id="{DCC74B8D-2285-328D-6737-8CA94DA03261}"/>
              </a:ext>
            </a:extLst>
          </p:cNvPr>
          <p:cNvSpPr>
            <a:spLocks noGrp="1"/>
          </p:cNvSpPr>
          <p:nvPr>
            <p:ph type="sldNum" sz="quarter" idx="5"/>
          </p:nvPr>
        </p:nvSpPr>
        <p:spPr/>
        <p:txBody>
          <a:bodyPr/>
          <a:lstStyle/>
          <a:p>
            <a:fld id="{83C4B724-439D-E046-A796-A3347318E560}" type="slidenum">
              <a:rPr lang="en-US" smtClean="0"/>
              <a:t>3</a:t>
            </a:fld>
            <a:endParaRPr lang="en-US"/>
          </a:p>
        </p:txBody>
      </p:sp>
    </p:spTree>
    <p:extLst>
      <p:ext uri="{BB962C8B-B14F-4D97-AF65-F5344CB8AC3E}">
        <p14:creationId xmlns:p14="http://schemas.microsoft.com/office/powerpoint/2010/main" val="2115755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5AB34-C8C7-91E0-AD39-3FB6435B3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14E57-150C-C82A-0680-91206AA8B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BD7B2-8225-F450-F094-CAC912FC8804}"/>
              </a:ext>
            </a:extLst>
          </p:cNvPr>
          <p:cNvSpPr>
            <a:spLocks noGrp="1"/>
          </p:cNvSpPr>
          <p:nvPr>
            <p:ph type="body" idx="1"/>
          </p:nvPr>
        </p:nvSpPr>
        <p:spPr/>
        <p:txBody>
          <a:bodyPr/>
          <a:lstStyle/>
          <a:p>
            <a:pPr marL="0" lvl="0" indent="0" algn="l" rtl="0">
              <a:lnSpc>
                <a:spcPct val="100000"/>
              </a:lnSpc>
              <a:spcBef>
                <a:spcPts val="0"/>
              </a:spcBef>
              <a:spcAft>
                <a:spcPts val="0"/>
              </a:spcAft>
              <a:buSzPts val="1100"/>
              <a:buNone/>
            </a:pPr>
            <a:r>
              <a:rPr lang="en-US" dirty="0"/>
              <a:t>This slide walks through our overall pipeline for generating the interactive explanation interfaces</a:t>
            </a:r>
          </a:p>
          <a:p>
            <a:r>
              <a:rPr lang="en-US" dirty="0"/>
              <a:t>We start on the top left with </a:t>
            </a:r>
            <a:r>
              <a:rPr lang="en-US" b="0" dirty="0"/>
              <a:t>“Tagged Information Generation” </a:t>
            </a:r>
            <a:r>
              <a:rPr lang="en-US" dirty="0"/>
              <a:t>We used the GSM8K dataset, which contains math reasoning problems. We had the LLM produce both correct and incorrect explanations. The incorrect ones were organized into nine error categories such as calculation errors or reasoning jumps. We then feed those questions and explanations into LLM to create an intermediate tagged information. </a:t>
            </a:r>
          </a:p>
          <a:p>
            <a:r>
              <a:rPr lang="en-US" dirty="0"/>
              <a:t>Next, on the bottom right, we created a set of HTML/CSS templates, one for each explanation format: </a:t>
            </a:r>
            <a:r>
              <a:rPr lang="en-US" dirty="0" err="1"/>
              <a:t>CoT</a:t>
            </a:r>
            <a:r>
              <a:rPr lang="en-US" dirty="0"/>
              <a:t>, </a:t>
            </a:r>
            <a:r>
              <a:rPr lang="en-US" dirty="0" err="1"/>
              <a:t>iCoT</a:t>
            </a:r>
            <a:r>
              <a:rPr lang="en-US" dirty="0"/>
              <a:t>, </a:t>
            </a:r>
            <a:r>
              <a:rPr lang="en-US" dirty="0" err="1"/>
              <a:t>iPoT</a:t>
            </a:r>
            <a:r>
              <a:rPr lang="en-US" dirty="0"/>
              <a:t>, and </a:t>
            </a:r>
            <a:r>
              <a:rPr lang="en-US" dirty="0" err="1"/>
              <a:t>iGraph</a:t>
            </a:r>
            <a:r>
              <a:rPr lang="en-US" dirty="0"/>
              <a:t>. These templates define how the explanations are displayed and how users interact with them, such as clicking “next step” or highlighting variables.</a:t>
            </a:r>
          </a:p>
          <a:p>
            <a:r>
              <a:rPr lang="en-US" b="0" dirty="0"/>
              <a:t>On the right we have Explanation Interface Generation</a:t>
            </a:r>
            <a:r>
              <a:rPr lang="en-US" b="1" dirty="0"/>
              <a:t>,</a:t>
            </a:r>
            <a:r>
              <a:rPr lang="en-US" dirty="0"/>
              <a:t> the tagged information and interfaces templates are fed into another LLM to generate the actual html interfaces for 4 different explanation formats. </a:t>
            </a:r>
          </a:p>
          <a:p>
            <a:endParaRPr lang="en-US" dirty="0"/>
          </a:p>
        </p:txBody>
      </p:sp>
      <p:sp>
        <p:nvSpPr>
          <p:cNvPr id="4" name="Slide Number Placeholder 3">
            <a:extLst>
              <a:ext uri="{FF2B5EF4-FFF2-40B4-BE49-F238E27FC236}">
                <a16:creationId xmlns:a16="http://schemas.microsoft.com/office/drawing/2014/main" id="{5DC47D71-EE4C-3BC8-60F0-A3D0B2BC8BC3}"/>
              </a:ext>
            </a:extLst>
          </p:cNvPr>
          <p:cNvSpPr>
            <a:spLocks noGrp="1"/>
          </p:cNvSpPr>
          <p:nvPr>
            <p:ph type="sldNum" sz="quarter" idx="5"/>
          </p:nvPr>
        </p:nvSpPr>
        <p:spPr/>
        <p:txBody>
          <a:bodyPr/>
          <a:lstStyle/>
          <a:p>
            <a:fld id="{83C4B724-439D-E046-A796-A3347318E560}" type="slidenum">
              <a:rPr lang="en-US" smtClean="0"/>
              <a:t>4</a:t>
            </a:fld>
            <a:endParaRPr lang="en-US"/>
          </a:p>
        </p:txBody>
      </p:sp>
    </p:spTree>
    <p:extLst>
      <p:ext uri="{BB962C8B-B14F-4D97-AF65-F5344CB8AC3E}">
        <p14:creationId xmlns:p14="http://schemas.microsoft.com/office/powerpoint/2010/main" val="3510206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22825-29E7-10C6-E78A-57C2A979A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15582-9DA4-9E37-EC27-48D1054618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371C2-92DF-354C-6EDA-BEC17BFCF480}"/>
              </a:ext>
            </a:extLst>
          </p:cNvPr>
          <p:cNvSpPr>
            <a:spLocks noGrp="1"/>
          </p:cNvSpPr>
          <p:nvPr>
            <p:ph type="body" idx="1"/>
          </p:nvPr>
        </p:nvSpPr>
        <p:spPr/>
        <p:txBody>
          <a:bodyPr/>
          <a:lstStyle/>
          <a:p>
            <a:pPr marL="0" lvl="0" indent="0" algn="l" rtl="0">
              <a:lnSpc>
                <a:spcPct val="100000"/>
              </a:lnSpc>
              <a:spcBef>
                <a:spcPts val="0"/>
              </a:spcBef>
              <a:spcAft>
                <a:spcPts val="0"/>
              </a:spcAft>
              <a:buSzPts val="1100"/>
              <a:buNone/>
            </a:pPr>
            <a:r>
              <a:rPr lang="en-US" dirty="0"/>
              <a:t>This slide shows what our user study interface actually looked like.</a:t>
            </a:r>
          </a:p>
          <a:p>
            <a:r>
              <a:rPr lang="en-US" dirty="0"/>
              <a:t>We recruited </a:t>
            </a:r>
            <a:r>
              <a:rPr lang="en-US" b="0" dirty="0"/>
              <a:t>125 undergrad participants from 2 universities </a:t>
            </a:r>
            <a:r>
              <a:rPr lang="en-US" dirty="0"/>
              <a:t>and each participant was </a:t>
            </a:r>
            <a:r>
              <a:rPr lang="en-US" b="0" dirty="0"/>
              <a:t>randomly assigned to one of the four explanation interfaces(</a:t>
            </a:r>
            <a:r>
              <a:rPr lang="en-US" dirty="0" err="1"/>
              <a:t>CoT</a:t>
            </a:r>
            <a:r>
              <a:rPr lang="en-US" dirty="0"/>
              <a:t>, </a:t>
            </a:r>
            <a:r>
              <a:rPr lang="en-US" dirty="0" err="1"/>
              <a:t>iCoT</a:t>
            </a:r>
            <a:r>
              <a:rPr lang="en-US" dirty="0"/>
              <a:t>, </a:t>
            </a:r>
            <a:r>
              <a:rPr lang="en-US" dirty="0" err="1"/>
              <a:t>iPoT</a:t>
            </a:r>
            <a:r>
              <a:rPr lang="en-US" dirty="0"/>
              <a:t>, or </a:t>
            </a:r>
            <a:r>
              <a:rPr lang="en-US" dirty="0" err="1"/>
              <a:t>iGraph</a:t>
            </a:r>
            <a:r>
              <a:rPr lang="en-US" dirty="0"/>
              <a:t>). </a:t>
            </a:r>
          </a:p>
          <a:p>
            <a:r>
              <a:rPr lang="en-US" dirty="0"/>
              <a:t>The interface you see here is designed for </a:t>
            </a:r>
            <a:r>
              <a:rPr lang="en-US" dirty="0" err="1"/>
              <a:t>iGraph</a:t>
            </a:r>
            <a:r>
              <a:rPr lang="en-US" dirty="0"/>
              <a:t> explanation format. On the left, the </a:t>
            </a:r>
            <a:r>
              <a:rPr lang="en-US" b="0" dirty="0"/>
              <a:t>question and summary </a:t>
            </a:r>
            <a:r>
              <a:rPr lang="en-US" dirty="0"/>
              <a:t>are color-coded to highlight key variables. The middle section present reasoning steps as nodes and edges, where participants can play, pause, or move forward and backward through the explanation.</a:t>
            </a:r>
          </a:p>
          <a:p>
            <a:r>
              <a:rPr lang="en-US" dirty="0"/>
              <a:t>On the right, participants could </a:t>
            </a:r>
            <a:r>
              <a:rPr lang="en-US" b="0" dirty="0"/>
              <a:t>verify the model’s reasoning. </a:t>
            </a:r>
            <a:r>
              <a:rPr lang="en-US" dirty="0"/>
              <a:t>they can mark whether the final answer was correct and, if not, provide the step where the LLM went wrong.</a:t>
            </a:r>
          </a:p>
          <a:p>
            <a:r>
              <a:rPr lang="en-US" dirty="0"/>
              <a:t>The progress bar at the bottom helped participants track where they were in the task</a:t>
            </a:r>
          </a:p>
          <a:p>
            <a:endParaRPr lang="en-US" dirty="0"/>
          </a:p>
        </p:txBody>
      </p:sp>
      <p:sp>
        <p:nvSpPr>
          <p:cNvPr id="4" name="Slide Number Placeholder 3">
            <a:extLst>
              <a:ext uri="{FF2B5EF4-FFF2-40B4-BE49-F238E27FC236}">
                <a16:creationId xmlns:a16="http://schemas.microsoft.com/office/drawing/2014/main" id="{886E72B6-4811-3040-7782-11F25514B28D}"/>
              </a:ext>
            </a:extLst>
          </p:cNvPr>
          <p:cNvSpPr>
            <a:spLocks noGrp="1"/>
          </p:cNvSpPr>
          <p:nvPr>
            <p:ph type="sldNum" sz="quarter" idx="5"/>
          </p:nvPr>
        </p:nvSpPr>
        <p:spPr/>
        <p:txBody>
          <a:bodyPr/>
          <a:lstStyle/>
          <a:p>
            <a:fld id="{83C4B724-439D-E046-A796-A3347318E560}" type="slidenum">
              <a:rPr lang="en-US" smtClean="0"/>
              <a:t>5</a:t>
            </a:fld>
            <a:endParaRPr lang="en-US"/>
          </a:p>
        </p:txBody>
      </p:sp>
    </p:spTree>
    <p:extLst>
      <p:ext uri="{BB962C8B-B14F-4D97-AF65-F5344CB8AC3E}">
        <p14:creationId xmlns:p14="http://schemas.microsoft.com/office/powerpoint/2010/main" val="4283328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617C8-5340-1557-8FCA-A3D9A6259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D43C6-C10E-B299-DF76-104F50708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0AACC-2D8E-DB6E-A77D-5DCF7393D138}"/>
              </a:ext>
            </a:extLst>
          </p:cNvPr>
          <p:cNvSpPr>
            <a:spLocks noGrp="1"/>
          </p:cNvSpPr>
          <p:nvPr>
            <p:ph type="body" idx="1"/>
          </p:nvPr>
        </p:nvSpPr>
        <p:spPr/>
        <p:txBody>
          <a:bodyPr/>
          <a:lstStyle/>
          <a:p>
            <a:pPr marL="0" lvl="0" indent="0" algn="l" rtl="0">
              <a:lnSpc>
                <a:spcPct val="100000"/>
              </a:lnSpc>
              <a:spcBef>
                <a:spcPts val="0"/>
              </a:spcBef>
              <a:spcAft>
                <a:spcPts val="0"/>
              </a:spcAft>
              <a:buSzPts val="1100"/>
              <a:buNone/>
            </a:pPr>
            <a:r>
              <a:rPr lang="en-US" dirty="0"/>
              <a:t>Now that I’ve shown you what our interfaces look like, here are the three main questions we wanted to answer with this study.</a:t>
            </a:r>
          </a:p>
          <a:p>
            <a:r>
              <a:rPr lang="en-US" b="1" dirty="0"/>
              <a:t>(RQ1):</a:t>
            </a:r>
            <a:r>
              <a:rPr lang="en-US" dirty="0"/>
              <a:t> we wanted to know if these interactive explanation formats actually help people verify reasoning more accurately than the standard text-based Chain-of-Thought. In other words — do visuals, structure, or interactivity actually make people better at catching mistakes?</a:t>
            </a:r>
          </a:p>
          <a:p>
            <a:r>
              <a:rPr lang="en-US" b="1" dirty="0"/>
              <a:t>(RQ2)</a:t>
            </a:r>
            <a:r>
              <a:rPr lang="en-US" dirty="0"/>
              <a:t>, we looked at efficiency — how do these formats affect the time and effort it takes to check an explanation? A good interface shouldn’t just be accurate; it should also make the process faster and less mentally demanding.</a:t>
            </a:r>
          </a:p>
          <a:p>
            <a:r>
              <a:rPr lang="en-US" b="1" dirty="0"/>
              <a:t>(RQ3)</a:t>
            </a:r>
            <a:r>
              <a:rPr lang="en-US" dirty="0"/>
              <a:t>, we wanted to see whether people </a:t>
            </a:r>
            <a:r>
              <a:rPr lang="en-US" i="1" dirty="0"/>
              <a:t>prefer</a:t>
            </a:r>
            <a:r>
              <a:rPr lang="en-US" dirty="0"/>
              <a:t> these interactive explanations over the usual text outputs. If users prefer interactive formats, that’s a strong sign that these designs could make LLMs more user-friendly.</a:t>
            </a:r>
          </a:p>
          <a:p>
            <a:pPr marL="0" lvl="0" indent="0" algn="l" rtl="0">
              <a:lnSpc>
                <a:spcPct val="100000"/>
              </a:lnSpc>
              <a:spcBef>
                <a:spcPts val="0"/>
              </a:spcBef>
              <a:spcAft>
                <a:spcPts val="0"/>
              </a:spcAft>
              <a:buSzPts val="1100"/>
              <a:buNone/>
            </a:pPr>
            <a:endParaRPr lang="en-US" dirty="0"/>
          </a:p>
          <a:p>
            <a:endParaRPr lang="en-US" dirty="0"/>
          </a:p>
        </p:txBody>
      </p:sp>
      <p:sp>
        <p:nvSpPr>
          <p:cNvPr id="4" name="Slide Number Placeholder 3">
            <a:extLst>
              <a:ext uri="{FF2B5EF4-FFF2-40B4-BE49-F238E27FC236}">
                <a16:creationId xmlns:a16="http://schemas.microsoft.com/office/drawing/2014/main" id="{C5FE4993-087D-72A4-F26A-4B13A1BC37B8}"/>
              </a:ext>
            </a:extLst>
          </p:cNvPr>
          <p:cNvSpPr>
            <a:spLocks noGrp="1"/>
          </p:cNvSpPr>
          <p:nvPr>
            <p:ph type="sldNum" sz="quarter" idx="5"/>
          </p:nvPr>
        </p:nvSpPr>
        <p:spPr/>
        <p:txBody>
          <a:bodyPr/>
          <a:lstStyle/>
          <a:p>
            <a:fld id="{83C4B724-439D-E046-A796-A3347318E560}" type="slidenum">
              <a:rPr lang="en-US" smtClean="0"/>
              <a:t>6</a:t>
            </a:fld>
            <a:endParaRPr lang="en-US"/>
          </a:p>
        </p:txBody>
      </p:sp>
    </p:spTree>
    <p:extLst>
      <p:ext uri="{BB962C8B-B14F-4D97-AF65-F5344CB8AC3E}">
        <p14:creationId xmlns:p14="http://schemas.microsoft.com/office/powerpoint/2010/main" val="3447857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8653B-8CA5-5291-8FC3-CA111B388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96AB4-F3CF-D85E-34D9-400C174D8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F5EBE-6CBF-C274-7D29-954E81949CAF}"/>
              </a:ext>
            </a:extLst>
          </p:cNvPr>
          <p:cNvSpPr>
            <a:spLocks noGrp="1"/>
          </p:cNvSpPr>
          <p:nvPr>
            <p:ph type="body" idx="1"/>
          </p:nvPr>
        </p:nvSpPr>
        <p:spPr/>
        <p:txBody>
          <a:bodyPr/>
          <a:lstStyle/>
          <a:p>
            <a:r>
              <a:rPr lang="en-US" dirty="0"/>
              <a:t>Here’s how we measured user performance and experience across the four interfaces.</a:t>
            </a:r>
          </a:p>
          <a:p>
            <a:r>
              <a:rPr lang="en-US" dirty="0"/>
              <a:t>On the </a:t>
            </a:r>
            <a:r>
              <a:rPr lang="en-US" b="0" dirty="0"/>
              <a:t>quantitative side</a:t>
            </a:r>
            <a:r>
              <a:rPr lang="en-US" dirty="0"/>
              <a:t>, we focused on three main metrics:</a:t>
            </a:r>
          </a:p>
          <a:p>
            <a:r>
              <a:rPr lang="en-US" b="0" dirty="0"/>
              <a:t>Verification Accuracy</a:t>
            </a:r>
            <a:r>
              <a:rPr lang="en-US" dirty="0"/>
              <a:t>, which tells us how often participants correctly judged whether the model’s reasoning was right or wrong.</a:t>
            </a:r>
          </a:p>
          <a:p>
            <a:r>
              <a:rPr lang="en-US" b="0" dirty="0"/>
              <a:t>Error Localization</a:t>
            </a:r>
            <a:r>
              <a:rPr lang="en-US" dirty="0"/>
              <a:t>, which measures whether participants could correctly identify </a:t>
            </a:r>
            <a:r>
              <a:rPr lang="en-US" i="1" dirty="0"/>
              <a:t>where</a:t>
            </a:r>
            <a:r>
              <a:rPr lang="en-US" dirty="0"/>
              <a:t> the model made a mistake in multi-step reasoning.</a:t>
            </a:r>
          </a:p>
          <a:p>
            <a:r>
              <a:rPr lang="en-US" b="0" dirty="0"/>
              <a:t>And Response Time</a:t>
            </a:r>
            <a:r>
              <a:rPr lang="en-US" dirty="0"/>
              <a:t>, which helps us see how efficiently participants were able to complete each task.</a:t>
            </a:r>
          </a:p>
          <a:p>
            <a:r>
              <a:rPr lang="en-US" dirty="0"/>
              <a:t>On the </a:t>
            </a:r>
            <a:r>
              <a:rPr lang="en-US" b="0" dirty="0"/>
              <a:t>qualitative side</a:t>
            </a:r>
            <a:r>
              <a:rPr lang="en-US" dirty="0"/>
              <a:t>, we gathered users’ subjective impressions.</a:t>
            </a:r>
          </a:p>
          <a:p>
            <a:r>
              <a:rPr lang="en-US" dirty="0"/>
              <a:t>First, a </a:t>
            </a:r>
            <a:r>
              <a:rPr lang="en-US" b="0" dirty="0"/>
              <a:t>General User Satisfaction Questionnaire , </a:t>
            </a:r>
            <a:r>
              <a:rPr lang="en-US" dirty="0"/>
              <a:t>this captured how clear, engaging, or useful participants found their assigned interface.</a:t>
            </a:r>
          </a:p>
          <a:p>
            <a:r>
              <a:rPr lang="en-US" dirty="0"/>
              <a:t>And second, a </a:t>
            </a:r>
            <a:r>
              <a:rPr lang="en-US" b="0" dirty="0"/>
              <a:t>Design Feature Questionnaire</a:t>
            </a:r>
            <a:r>
              <a:rPr lang="en-US" dirty="0"/>
              <a:t>, where we asked about specific features like color-coding, dual panels, or playback controls to understand what contributed most to their experience.</a:t>
            </a:r>
          </a:p>
          <a:p>
            <a:pPr marL="0" lvl="0" indent="0" algn="l" rtl="0">
              <a:lnSpc>
                <a:spcPct val="100000"/>
              </a:lnSpc>
              <a:spcBef>
                <a:spcPts val="0"/>
              </a:spcBef>
              <a:spcAft>
                <a:spcPts val="0"/>
              </a:spcAft>
              <a:buSzPts val="1100"/>
              <a:buNone/>
            </a:pPr>
            <a:endParaRPr lang="en-US" dirty="0"/>
          </a:p>
        </p:txBody>
      </p:sp>
      <p:sp>
        <p:nvSpPr>
          <p:cNvPr id="4" name="Slide Number Placeholder 3">
            <a:extLst>
              <a:ext uri="{FF2B5EF4-FFF2-40B4-BE49-F238E27FC236}">
                <a16:creationId xmlns:a16="http://schemas.microsoft.com/office/drawing/2014/main" id="{0356A182-D605-0498-3AFC-9857639744C3}"/>
              </a:ext>
            </a:extLst>
          </p:cNvPr>
          <p:cNvSpPr>
            <a:spLocks noGrp="1"/>
          </p:cNvSpPr>
          <p:nvPr>
            <p:ph type="sldNum" sz="quarter" idx="5"/>
          </p:nvPr>
        </p:nvSpPr>
        <p:spPr/>
        <p:txBody>
          <a:bodyPr/>
          <a:lstStyle/>
          <a:p>
            <a:fld id="{83C4B724-439D-E046-A796-A3347318E560}" type="slidenum">
              <a:rPr lang="en-US" smtClean="0"/>
              <a:t>7</a:t>
            </a:fld>
            <a:endParaRPr lang="en-US"/>
          </a:p>
        </p:txBody>
      </p:sp>
    </p:spTree>
    <p:extLst>
      <p:ext uri="{BB962C8B-B14F-4D97-AF65-F5344CB8AC3E}">
        <p14:creationId xmlns:p14="http://schemas.microsoft.com/office/powerpoint/2010/main" val="3810995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46D7B-AF25-30F6-BCB5-9A0169710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7E128-D6BF-448E-1ADD-8D1FAEE42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FC01E-DADC-3BB7-D35D-6DE1B62D4B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0BBD21-A32A-E3B3-0117-22D7B0F9A843}"/>
              </a:ext>
            </a:extLst>
          </p:cNvPr>
          <p:cNvSpPr>
            <a:spLocks noGrp="1"/>
          </p:cNvSpPr>
          <p:nvPr>
            <p:ph type="sldNum" sz="quarter" idx="5"/>
          </p:nvPr>
        </p:nvSpPr>
        <p:spPr/>
        <p:txBody>
          <a:bodyPr/>
          <a:lstStyle/>
          <a:p>
            <a:fld id="{83C4B724-439D-E046-A796-A3347318E560}" type="slidenum">
              <a:rPr lang="en-US" smtClean="0"/>
              <a:t>8</a:t>
            </a:fld>
            <a:endParaRPr lang="en-US"/>
          </a:p>
        </p:txBody>
      </p:sp>
    </p:spTree>
    <p:extLst>
      <p:ext uri="{BB962C8B-B14F-4D97-AF65-F5344CB8AC3E}">
        <p14:creationId xmlns:p14="http://schemas.microsoft.com/office/powerpoint/2010/main" val="1570819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DF275-83D6-5C89-15A5-6763CB6C3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4CE14-ACA4-C08F-1396-3CEA77BF0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2927F-615A-5A1F-CA98-3A7A0AB83D6F}"/>
              </a:ext>
            </a:extLst>
          </p:cNvPr>
          <p:cNvSpPr>
            <a:spLocks noGrp="1"/>
          </p:cNvSpPr>
          <p:nvPr>
            <p:ph type="body" idx="1"/>
          </p:nvPr>
        </p:nvSpPr>
        <p:spPr/>
        <p:txBody>
          <a:bodyPr/>
          <a:lstStyle/>
          <a:p>
            <a:r>
              <a:rPr lang="en-US" dirty="0"/>
              <a:t>To answer RQ1, we need to analysis the above two figure.</a:t>
            </a:r>
          </a:p>
          <a:p>
            <a:r>
              <a:rPr lang="en-US" dirty="0"/>
              <a:t>Starting with </a:t>
            </a:r>
            <a:r>
              <a:rPr lang="en-US" b="0" dirty="0"/>
              <a:t>Verification Accuracy </a:t>
            </a:r>
            <a:r>
              <a:rPr lang="en-US" dirty="0"/>
              <a:t>on the left:</a:t>
            </a:r>
            <a:br>
              <a:rPr lang="en-US" dirty="0"/>
            </a:br>
            <a:r>
              <a:rPr lang="en-US" dirty="0"/>
              <a:t>We can see a clear improvement when moving from traditional </a:t>
            </a:r>
            <a:r>
              <a:rPr lang="en-US" dirty="0" err="1"/>
              <a:t>CoT</a:t>
            </a:r>
            <a:r>
              <a:rPr lang="en-US" dirty="0"/>
              <a:t> to the interactive formats. </a:t>
            </a:r>
            <a:r>
              <a:rPr lang="en-US" dirty="0" err="1"/>
              <a:t>CoT</a:t>
            </a:r>
            <a:r>
              <a:rPr lang="en-US" dirty="0"/>
              <a:t> users scored around 74%, while </a:t>
            </a:r>
            <a:r>
              <a:rPr lang="en-US" dirty="0" err="1"/>
              <a:t>iCoT</a:t>
            </a:r>
            <a:r>
              <a:rPr lang="en-US" dirty="0"/>
              <a:t>, </a:t>
            </a:r>
            <a:r>
              <a:rPr lang="en-US" dirty="0" err="1"/>
              <a:t>iPoT</a:t>
            </a:r>
            <a:r>
              <a:rPr lang="en-US" dirty="0"/>
              <a:t>, and </a:t>
            </a:r>
            <a:r>
              <a:rPr lang="en-US" dirty="0" err="1"/>
              <a:t>iGraph</a:t>
            </a:r>
            <a:r>
              <a:rPr lang="en-US" dirty="0"/>
              <a:t> all performed significantly better — around 80 to 86%. The</a:t>
            </a:r>
            <a:r>
              <a:rPr lang="en-US" b="0" dirty="0"/>
              <a:t> </a:t>
            </a:r>
            <a:r>
              <a:rPr lang="en-US" b="0" dirty="0" err="1"/>
              <a:t>iGraph</a:t>
            </a:r>
            <a:r>
              <a:rPr lang="en-US" b="0" dirty="0"/>
              <a:t> </a:t>
            </a:r>
            <a:r>
              <a:rPr lang="en-US" dirty="0"/>
              <a:t>interface achieved the highest accuracy overall.</a:t>
            </a:r>
          </a:p>
          <a:p>
            <a:r>
              <a:rPr lang="en-US" dirty="0"/>
              <a:t>Moving to the middle chart, we have the results for </a:t>
            </a:r>
            <a:r>
              <a:rPr lang="en-US" b="0" dirty="0"/>
              <a:t>error Localization, which</a:t>
            </a:r>
            <a:r>
              <a:rPr lang="en-US" dirty="0"/>
              <a:t> is the ability to identify </a:t>
            </a:r>
            <a:r>
              <a:rPr lang="en-US" i="1" dirty="0"/>
              <a:t>which specific step</a:t>
            </a:r>
            <a:r>
              <a:rPr lang="en-US" dirty="0"/>
              <a:t> in the reasoning was wrong. The trend is similar here: participants using interactive interfaces especially </a:t>
            </a:r>
            <a:r>
              <a:rPr lang="en-US" b="0" dirty="0" err="1"/>
              <a:t>iGraph</a:t>
            </a:r>
            <a:r>
              <a:rPr lang="en-US" b="0" dirty="0"/>
              <a:t> </a:t>
            </a:r>
            <a:r>
              <a:rPr lang="en-US" dirty="0"/>
              <a:t>were much more accurate in locating errors compared to those using plain text </a:t>
            </a:r>
            <a:r>
              <a:rPr lang="en-US" dirty="0" err="1"/>
              <a:t>CoT</a:t>
            </a:r>
            <a:r>
              <a:rPr lang="en-US" dirty="0"/>
              <a:t>.</a:t>
            </a:r>
          </a:p>
          <a:p>
            <a:pPr marL="0" lvl="0" indent="0" algn="l" rtl="0">
              <a:lnSpc>
                <a:spcPct val="100000"/>
              </a:lnSpc>
              <a:spcBef>
                <a:spcPts val="0"/>
              </a:spcBef>
              <a:spcAft>
                <a:spcPts val="0"/>
              </a:spcAft>
              <a:buSzPts val="1100"/>
              <a:buNone/>
            </a:pPr>
            <a:endParaRPr lang="en-US" dirty="0"/>
          </a:p>
        </p:txBody>
      </p:sp>
      <p:sp>
        <p:nvSpPr>
          <p:cNvPr id="4" name="Slide Number Placeholder 3">
            <a:extLst>
              <a:ext uri="{FF2B5EF4-FFF2-40B4-BE49-F238E27FC236}">
                <a16:creationId xmlns:a16="http://schemas.microsoft.com/office/drawing/2014/main" id="{A6327F18-8D77-3A4B-03A2-7646FB046D15}"/>
              </a:ext>
            </a:extLst>
          </p:cNvPr>
          <p:cNvSpPr>
            <a:spLocks noGrp="1"/>
          </p:cNvSpPr>
          <p:nvPr>
            <p:ph type="sldNum" sz="quarter" idx="5"/>
          </p:nvPr>
        </p:nvSpPr>
        <p:spPr/>
        <p:txBody>
          <a:bodyPr/>
          <a:lstStyle/>
          <a:p>
            <a:fld id="{83C4B724-439D-E046-A796-A3347318E560}" type="slidenum">
              <a:rPr lang="en-US" smtClean="0"/>
              <a:t>9</a:t>
            </a:fld>
            <a:endParaRPr lang="en-US"/>
          </a:p>
        </p:txBody>
      </p:sp>
    </p:spTree>
    <p:extLst>
      <p:ext uri="{BB962C8B-B14F-4D97-AF65-F5344CB8AC3E}">
        <p14:creationId xmlns:p14="http://schemas.microsoft.com/office/powerpoint/2010/main" val="1565648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8F2B5-DBCB-8E89-B41C-8A6BB3B1F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9D292-9405-1523-D0F4-C81A9CF0A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F62FB-8E48-A628-2F2D-3C237A63C9E3}"/>
              </a:ext>
            </a:extLst>
          </p:cNvPr>
          <p:cNvSpPr>
            <a:spLocks noGrp="1"/>
          </p:cNvSpPr>
          <p:nvPr>
            <p:ph type="body" idx="1"/>
          </p:nvPr>
        </p:nvSpPr>
        <p:spPr/>
        <p:txBody>
          <a:bodyPr/>
          <a:lstStyle/>
          <a:p>
            <a:pPr marL="0" lvl="0" indent="0" algn="l" rtl="0">
              <a:lnSpc>
                <a:spcPct val="100000"/>
              </a:lnSpc>
              <a:spcBef>
                <a:spcPts val="0"/>
              </a:spcBef>
              <a:spcAft>
                <a:spcPts val="0"/>
              </a:spcAft>
              <a:buSzPts val="1100"/>
              <a:buNone/>
            </a:pPr>
            <a:r>
              <a:rPr lang="en-US" dirty="0"/>
              <a:t>Here’s how our four explanation formats look side by side. all 4 explanation formats are solving the same math problem. </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dirty="0"/>
              <a:t>On the top left, we have the </a:t>
            </a:r>
            <a:r>
              <a:rPr lang="en-US" b="0" dirty="0"/>
              <a:t>traditional Chain-of-Thought</a:t>
            </a:r>
            <a:r>
              <a:rPr lang="en-US" dirty="0"/>
              <a:t>, which is the explanation format that LLMs produce — step-by-step but dense and text-heavy. This would be the based line interface that will be compared to with our interactive explanation formats.</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dirty="0"/>
              <a:t>Next, we move to </a:t>
            </a:r>
            <a:r>
              <a:rPr lang="en-US" b="0" dirty="0"/>
              <a:t>interactive </a:t>
            </a:r>
            <a:r>
              <a:rPr lang="en-US" b="0" dirty="0" err="1"/>
              <a:t>CoT</a:t>
            </a:r>
            <a:r>
              <a:rPr lang="en-US" b="0" dirty="0"/>
              <a:t> (</a:t>
            </a:r>
            <a:r>
              <a:rPr lang="en-US" b="0" dirty="0" err="1"/>
              <a:t>iCoT</a:t>
            </a:r>
            <a:r>
              <a:rPr lang="en-US" b="0" dirty="0"/>
              <a:t>), </a:t>
            </a:r>
            <a:r>
              <a:rPr lang="en-US" dirty="0"/>
              <a:t>which keeps the same reasoning but breaks it into clean, color-coded steps that users can read sequentially. This makes it much easier to follow without losing the logic.</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dirty="0"/>
              <a:t>Then</a:t>
            </a:r>
            <a:r>
              <a:rPr lang="en-US" b="1" dirty="0"/>
              <a:t>, </a:t>
            </a:r>
            <a:r>
              <a:rPr lang="en-US" b="0" dirty="0"/>
              <a:t>interactive Program-of-Thought (</a:t>
            </a:r>
            <a:r>
              <a:rPr lang="en-US" b="0" dirty="0" err="1"/>
              <a:t>iPoT</a:t>
            </a:r>
            <a:r>
              <a:rPr lang="en-US" b="0" dirty="0"/>
              <a:t>) </a:t>
            </a:r>
            <a:r>
              <a:rPr lang="en-US" dirty="0"/>
              <a:t>shows reasoning in a code-like format. Each step is written like a line of pseudocode, where users can clearly see how variables are defined and used.</a:t>
            </a:r>
          </a:p>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dirty="0"/>
              <a:t>Finally</a:t>
            </a:r>
            <a:r>
              <a:rPr lang="en-US" b="1" dirty="0"/>
              <a:t>, </a:t>
            </a:r>
            <a:r>
              <a:rPr lang="en-US" b="0" dirty="0"/>
              <a:t>interactive Graph (</a:t>
            </a:r>
            <a:r>
              <a:rPr lang="en-US" b="0" dirty="0" err="1"/>
              <a:t>iGraph</a:t>
            </a:r>
            <a:r>
              <a:rPr lang="en-US" b="0" dirty="0"/>
              <a:t>) </a:t>
            </a:r>
            <a:r>
              <a:rPr lang="en-US" dirty="0"/>
              <a:t>visualizes reasoning as connected nodes and edges.  You can actually see the relationships between numbers and operations. </a:t>
            </a:r>
          </a:p>
          <a:p>
            <a:endParaRPr lang="en-US" dirty="0"/>
          </a:p>
        </p:txBody>
      </p:sp>
      <p:sp>
        <p:nvSpPr>
          <p:cNvPr id="4" name="Slide Number Placeholder 3">
            <a:extLst>
              <a:ext uri="{FF2B5EF4-FFF2-40B4-BE49-F238E27FC236}">
                <a16:creationId xmlns:a16="http://schemas.microsoft.com/office/drawing/2014/main" id="{1E3231D1-23EB-905D-C0E2-C66A251D8970}"/>
              </a:ext>
            </a:extLst>
          </p:cNvPr>
          <p:cNvSpPr>
            <a:spLocks noGrp="1"/>
          </p:cNvSpPr>
          <p:nvPr>
            <p:ph type="sldNum" sz="quarter" idx="5"/>
          </p:nvPr>
        </p:nvSpPr>
        <p:spPr/>
        <p:txBody>
          <a:bodyPr/>
          <a:lstStyle/>
          <a:p>
            <a:fld id="{83C4B724-439D-E046-A796-A3347318E560}" type="slidenum">
              <a:rPr lang="en-US" smtClean="0"/>
              <a:t>10</a:t>
            </a:fld>
            <a:endParaRPr lang="en-US"/>
          </a:p>
        </p:txBody>
      </p:sp>
    </p:spTree>
    <p:extLst>
      <p:ext uri="{BB962C8B-B14F-4D97-AF65-F5344CB8AC3E}">
        <p14:creationId xmlns:p14="http://schemas.microsoft.com/office/powerpoint/2010/main" val="1410884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FEBB6-9CC6-C74C-CE80-865099B96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7F230-2331-DF21-6DB0-81DF2E988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DD54EF-8979-F063-CF80-E47BEB1FDB68}"/>
              </a:ext>
            </a:extLst>
          </p:cNvPr>
          <p:cNvSpPr>
            <a:spLocks noGrp="1"/>
          </p:cNvSpPr>
          <p:nvPr>
            <p:ph type="body" idx="1"/>
          </p:nvPr>
        </p:nvSpPr>
        <p:spPr/>
        <p:txBody>
          <a:bodyPr/>
          <a:lstStyle/>
          <a:p>
            <a:r>
              <a:rPr lang="en-US" dirty="0"/>
              <a:t>Now let’s look at the response time.  We can see that participants using interactive interfaces were not only more accurate but they were also </a:t>
            </a:r>
            <a:r>
              <a:rPr lang="en-US" i="1" dirty="0"/>
              <a:t>faster</a:t>
            </a:r>
            <a:r>
              <a:rPr lang="en-US" dirty="0"/>
              <a:t>. On average, </a:t>
            </a:r>
            <a:r>
              <a:rPr lang="en-US" dirty="0" err="1"/>
              <a:t>iGraph</a:t>
            </a:r>
            <a:r>
              <a:rPr lang="en-US" dirty="0"/>
              <a:t> users completed each question in about </a:t>
            </a:r>
            <a:r>
              <a:rPr lang="en-US" b="0" dirty="0"/>
              <a:t>56 seconds</a:t>
            </a:r>
            <a:r>
              <a:rPr lang="en-US" dirty="0"/>
              <a:t>, while </a:t>
            </a:r>
            <a:r>
              <a:rPr lang="en-US" dirty="0" err="1"/>
              <a:t>CoT</a:t>
            </a:r>
            <a:r>
              <a:rPr lang="en-US" dirty="0"/>
              <a:t> users took almost </a:t>
            </a:r>
            <a:r>
              <a:rPr lang="en-US" b="0" dirty="0"/>
              <a:t>70 seconds. Although the time differences between </a:t>
            </a:r>
            <a:r>
              <a:rPr lang="en-US" b="0" dirty="0" err="1"/>
              <a:t>CoT</a:t>
            </a:r>
            <a:r>
              <a:rPr lang="en-US" b="0" dirty="0"/>
              <a:t> and interactive explanation formats are not statistical significant, we can see a clear trend that interactive formats in general require less time to complete than traditional </a:t>
            </a:r>
            <a:r>
              <a:rPr lang="en-US" b="0" dirty="0" err="1"/>
              <a:t>CoT</a:t>
            </a:r>
            <a:endParaRPr lang="en-US" b="0" dirty="0"/>
          </a:p>
          <a:p>
            <a:pPr marL="0" lvl="0" indent="0" algn="l" rtl="0">
              <a:lnSpc>
                <a:spcPct val="100000"/>
              </a:lnSpc>
              <a:spcBef>
                <a:spcPts val="0"/>
              </a:spcBef>
              <a:spcAft>
                <a:spcPts val="0"/>
              </a:spcAft>
              <a:buSzPts val="1100"/>
              <a:buNone/>
            </a:pPr>
            <a:endParaRPr lang="en-US" dirty="0"/>
          </a:p>
        </p:txBody>
      </p:sp>
      <p:sp>
        <p:nvSpPr>
          <p:cNvPr id="4" name="Slide Number Placeholder 3">
            <a:extLst>
              <a:ext uri="{FF2B5EF4-FFF2-40B4-BE49-F238E27FC236}">
                <a16:creationId xmlns:a16="http://schemas.microsoft.com/office/drawing/2014/main" id="{501B9377-D380-CC4B-E916-4986E15695BE}"/>
              </a:ext>
            </a:extLst>
          </p:cNvPr>
          <p:cNvSpPr>
            <a:spLocks noGrp="1"/>
          </p:cNvSpPr>
          <p:nvPr>
            <p:ph type="sldNum" sz="quarter" idx="5"/>
          </p:nvPr>
        </p:nvSpPr>
        <p:spPr/>
        <p:txBody>
          <a:bodyPr/>
          <a:lstStyle/>
          <a:p>
            <a:fld id="{83C4B724-439D-E046-A796-A3347318E560}" type="slidenum">
              <a:rPr lang="en-US" smtClean="0"/>
              <a:t>11</a:t>
            </a:fld>
            <a:endParaRPr lang="en-US"/>
          </a:p>
        </p:txBody>
      </p:sp>
    </p:spTree>
    <p:extLst>
      <p:ext uri="{BB962C8B-B14F-4D97-AF65-F5344CB8AC3E}">
        <p14:creationId xmlns:p14="http://schemas.microsoft.com/office/powerpoint/2010/main" val="2552974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164FA-255A-9C40-7A77-8CE7B0A3F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935FD-310F-8C89-E68E-C9947A34E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087F35-AD2C-E8B1-6770-1B98C50462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D26B10-03AD-40EF-8690-316BE1C918FC}"/>
              </a:ext>
            </a:extLst>
          </p:cNvPr>
          <p:cNvSpPr>
            <a:spLocks noGrp="1"/>
          </p:cNvSpPr>
          <p:nvPr>
            <p:ph type="sldNum" sz="quarter" idx="5"/>
          </p:nvPr>
        </p:nvSpPr>
        <p:spPr/>
        <p:txBody>
          <a:bodyPr/>
          <a:lstStyle/>
          <a:p>
            <a:fld id="{83C4B724-439D-E046-A796-A3347318E560}" type="slidenum">
              <a:rPr lang="en-US" smtClean="0"/>
              <a:t>12</a:t>
            </a:fld>
            <a:endParaRPr lang="en-US"/>
          </a:p>
        </p:txBody>
      </p:sp>
    </p:spTree>
    <p:extLst>
      <p:ext uri="{BB962C8B-B14F-4D97-AF65-F5344CB8AC3E}">
        <p14:creationId xmlns:p14="http://schemas.microsoft.com/office/powerpoint/2010/main" val="3567090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37C6C-F06E-FFFA-0FFA-A097C2020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5DEBC-27D1-D26B-5ECB-1416E7C8C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B7D15-F4CC-278A-B5B1-AE4ED41D0E9E}"/>
              </a:ext>
            </a:extLst>
          </p:cNvPr>
          <p:cNvSpPr>
            <a:spLocks noGrp="1"/>
          </p:cNvSpPr>
          <p:nvPr>
            <p:ph type="body" idx="1"/>
          </p:nvPr>
        </p:nvSpPr>
        <p:spPr/>
        <p:txBody>
          <a:bodyPr/>
          <a:lstStyle/>
          <a:p>
            <a:r>
              <a:rPr lang="en-US" dirty="0"/>
              <a:t>To answer RQ3, we need to look at the qualitative results from two post-study questionnaires, one on general user satisfaction (G1–G5) and one on specific design features (D1–D4).</a:t>
            </a:r>
          </a:p>
          <a:p>
            <a:r>
              <a:rPr lang="en-US" dirty="0"/>
              <a:t>Starting with the </a:t>
            </a:r>
            <a:r>
              <a:rPr lang="en-US" b="0" dirty="0"/>
              <a:t>general user satisfaction </a:t>
            </a:r>
            <a:r>
              <a:rPr lang="en-US" dirty="0"/>
              <a:t>results on the left:</a:t>
            </a:r>
            <a:br>
              <a:rPr lang="en-US" dirty="0"/>
            </a:br>
            <a:r>
              <a:rPr lang="en-US" dirty="0"/>
              <a:t>Participants rated statements like whether the explanation helped them understand the problem (G1), made it easier to identify errors (G2), and how engaging or satisfying the format was (G3–G5).</a:t>
            </a:r>
            <a:br>
              <a:rPr lang="en-US" dirty="0"/>
            </a:br>
            <a:r>
              <a:rPr lang="en-US" dirty="0"/>
              <a:t>Overall, the </a:t>
            </a:r>
            <a:r>
              <a:rPr lang="en-US" b="0" dirty="0" err="1"/>
              <a:t>iGraph</a:t>
            </a:r>
            <a:r>
              <a:rPr lang="en-US" dirty="0"/>
              <a:t> interface scored the highest on understanding and satisfaction, both at around 90%.</a:t>
            </a:r>
            <a:br>
              <a:rPr lang="en-US" dirty="0"/>
            </a:br>
            <a:r>
              <a:rPr lang="en-US" dirty="0"/>
              <a:t>Interestingly, </a:t>
            </a:r>
            <a:r>
              <a:rPr lang="en-US" b="0" dirty="0" err="1"/>
              <a:t>iPoT</a:t>
            </a:r>
            <a:r>
              <a:rPr lang="en-US" dirty="0"/>
              <a:t> also performed very well, especially for engagement (G3), likely because its structured and code-like layout made reasoning steps feel clear and systematic.</a:t>
            </a:r>
            <a:br>
              <a:rPr lang="en-US" dirty="0"/>
            </a:br>
            <a:r>
              <a:rPr lang="en-US" dirty="0"/>
              <a:t>The text-based </a:t>
            </a:r>
            <a:r>
              <a:rPr lang="en-US" b="0" dirty="0" err="1"/>
              <a:t>CoT</a:t>
            </a:r>
            <a:r>
              <a:rPr lang="en-US" b="0" dirty="0"/>
              <a:t> </a:t>
            </a:r>
            <a:r>
              <a:rPr lang="en-US" dirty="0"/>
              <a:t>received the lowest ratings across most measures</a:t>
            </a:r>
          </a:p>
          <a:p>
            <a:r>
              <a:rPr lang="en-US" dirty="0"/>
              <a:t>Now on the right, we have </a:t>
            </a:r>
            <a:r>
              <a:rPr lang="en-US" b="0" dirty="0"/>
              <a:t>design feature ratings (D1–D4):</a:t>
            </a:r>
            <a:br>
              <a:rPr lang="en-US" dirty="0"/>
            </a:br>
            <a:r>
              <a:rPr lang="en-US" dirty="0"/>
              <a:t>Participants strongly agreed that the </a:t>
            </a:r>
            <a:r>
              <a:rPr lang="en-US" b="0" dirty="0"/>
              <a:t>dual-panel layout </a:t>
            </a:r>
            <a:r>
              <a:rPr lang="en-US" dirty="0"/>
              <a:t>(problem on the left, explanation on the right) made it easier to connect the reasoning to the problem.</a:t>
            </a:r>
            <a:br>
              <a:rPr lang="en-US" dirty="0"/>
            </a:br>
            <a:r>
              <a:rPr lang="en-US" dirty="0"/>
              <a:t>The </a:t>
            </a:r>
            <a:r>
              <a:rPr lang="en-US" b="0" dirty="0"/>
              <a:t>color coding </a:t>
            </a:r>
            <a:r>
              <a:rPr lang="en-US" dirty="0"/>
              <a:t>feature also stood out — users found it extremely helpful for tracking variables across steps, with </a:t>
            </a:r>
            <a:r>
              <a:rPr lang="en-US" dirty="0" err="1"/>
              <a:t>iGraph</a:t>
            </a:r>
            <a:r>
              <a:rPr lang="en-US" dirty="0"/>
              <a:t> again leading in this category</a:t>
            </a:r>
            <a:br>
              <a:rPr lang="en-US" dirty="0"/>
            </a:br>
            <a:r>
              <a:rPr lang="en-US" dirty="0"/>
              <a:t>Finally</a:t>
            </a:r>
            <a:r>
              <a:rPr lang="en-US" b="1" dirty="0"/>
              <a:t>, </a:t>
            </a:r>
            <a:r>
              <a:rPr lang="en-US" b="0" dirty="0"/>
              <a:t>step-by-step explanation </a:t>
            </a:r>
            <a:r>
              <a:rPr lang="en-US" dirty="0"/>
              <a:t>was rated highly in both </a:t>
            </a:r>
            <a:r>
              <a:rPr lang="en-US" dirty="0" err="1"/>
              <a:t>iGraph</a:t>
            </a:r>
            <a:r>
              <a:rPr lang="en-US" dirty="0"/>
              <a:t> and </a:t>
            </a:r>
            <a:r>
              <a:rPr lang="en-US" dirty="0" err="1"/>
              <a:t>iCoT</a:t>
            </a:r>
            <a:r>
              <a:rPr lang="en-US" dirty="0"/>
              <a:t>, as it helped reduce cognitive load by showing one reasoning step at a time.</a:t>
            </a:r>
          </a:p>
          <a:p>
            <a:r>
              <a:rPr lang="en-US" dirty="0"/>
              <a:t>these findings show that users not only performed better but also </a:t>
            </a:r>
            <a:r>
              <a:rPr lang="en-US" b="0" dirty="0"/>
              <a:t>preferred</a:t>
            </a:r>
            <a:r>
              <a:rPr lang="en-US" dirty="0"/>
              <a:t> the interactive and structured explanation formats.</a:t>
            </a:r>
            <a:br>
              <a:rPr lang="en-US" dirty="0"/>
            </a:br>
            <a:r>
              <a:rPr lang="en-US" dirty="0"/>
              <a:t>Next I’ll do a demo on our interactive explanation interface in the user study setting. </a:t>
            </a:r>
          </a:p>
          <a:p>
            <a:pPr marL="0" lvl="0" indent="0" algn="l" rtl="0">
              <a:lnSpc>
                <a:spcPct val="100000"/>
              </a:lnSpc>
              <a:spcBef>
                <a:spcPts val="0"/>
              </a:spcBef>
              <a:spcAft>
                <a:spcPts val="0"/>
              </a:spcAft>
              <a:buSzPts val="1100"/>
              <a:buNone/>
            </a:pPr>
            <a:endParaRPr lang="en-US" dirty="0"/>
          </a:p>
        </p:txBody>
      </p:sp>
      <p:sp>
        <p:nvSpPr>
          <p:cNvPr id="4" name="Slide Number Placeholder 3">
            <a:extLst>
              <a:ext uri="{FF2B5EF4-FFF2-40B4-BE49-F238E27FC236}">
                <a16:creationId xmlns:a16="http://schemas.microsoft.com/office/drawing/2014/main" id="{FC66BF65-421B-7636-8645-DBCD006CAF78}"/>
              </a:ext>
            </a:extLst>
          </p:cNvPr>
          <p:cNvSpPr>
            <a:spLocks noGrp="1"/>
          </p:cNvSpPr>
          <p:nvPr>
            <p:ph type="sldNum" sz="quarter" idx="5"/>
          </p:nvPr>
        </p:nvSpPr>
        <p:spPr/>
        <p:txBody>
          <a:bodyPr/>
          <a:lstStyle/>
          <a:p>
            <a:fld id="{83C4B724-439D-E046-A796-A3347318E560}" type="slidenum">
              <a:rPr lang="en-US" smtClean="0"/>
              <a:t>13</a:t>
            </a:fld>
            <a:endParaRPr lang="en-US"/>
          </a:p>
        </p:txBody>
      </p:sp>
    </p:spTree>
    <p:extLst>
      <p:ext uri="{BB962C8B-B14F-4D97-AF65-F5344CB8AC3E}">
        <p14:creationId xmlns:p14="http://schemas.microsoft.com/office/powerpoint/2010/main" val="568158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07499-D276-892D-B75F-4027E7A3C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6F04E-8A7A-B327-B962-AC6B2D3656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E23C2-5870-DFE2-CB2F-A18B2BBA00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6DA38E-ABF6-2BFC-91B4-DC84E08D3C15}"/>
              </a:ext>
            </a:extLst>
          </p:cNvPr>
          <p:cNvSpPr>
            <a:spLocks noGrp="1"/>
          </p:cNvSpPr>
          <p:nvPr>
            <p:ph type="sldNum" sz="quarter" idx="5"/>
          </p:nvPr>
        </p:nvSpPr>
        <p:spPr/>
        <p:txBody>
          <a:bodyPr/>
          <a:lstStyle/>
          <a:p>
            <a:fld id="{83C4B724-439D-E046-A796-A3347318E560}" type="slidenum">
              <a:rPr lang="en-US" smtClean="0"/>
              <a:t>14</a:t>
            </a:fld>
            <a:endParaRPr lang="en-US"/>
          </a:p>
        </p:txBody>
      </p:sp>
    </p:spTree>
    <p:extLst>
      <p:ext uri="{BB962C8B-B14F-4D97-AF65-F5344CB8AC3E}">
        <p14:creationId xmlns:p14="http://schemas.microsoft.com/office/powerpoint/2010/main" val="67667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C86BAF-3B55-7A47-97ED-BD3C41571461}" type="datetimeFigureOut">
              <a:rPr lang="en-US" smtClean="0"/>
              <a:t>10/19/25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3662067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86BAF-3B55-7A47-97ED-BD3C41571461}" type="datetimeFigureOut">
              <a:rPr lang="en-US" smtClean="0"/>
              <a:t>10/19/25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980343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C86BAF-3B55-7A47-97ED-BD3C41571461}" type="datetimeFigureOut">
              <a:rPr lang="en-US" smtClean="0"/>
              <a:t>10/19/25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3480976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C86BAF-3B55-7A47-97ED-BD3C41571461}" type="datetimeFigureOut">
              <a:rPr lang="en-US" smtClean="0"/>
              <a:t>10/19/25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1751597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C86BAF-3B55-7A47-97ED-BD3C41571461}" type="datetimeFigureOut">
              <a:rPr lang="en-US" smtClean="0"/>
              <a:t>10/19/25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3639537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C86BAF-3B55-7A47-97ED-BD3C41571461}" type="datetimeFigureOut">
              <a:rPr lang="en-US" smtClean="0"/>
              <a:t>10/19/25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1748249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C86BAF-3B55-7A47-97ED-BD3C41571461}" type="datetimeFigureOut">
              <a:rPr lang="en-US" smtClean="0"/>
              <a:t>10/19/25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2863468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C86BAF-3B55-7A47-97ED-BD3C41571461}" type="datetimeFigureOut">
              <a:rPr lang="en-US" smtClean="0"/>
              <a:t>10/19/25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196405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C86BAF-3B55-7A47-97ED-BD3C41571461}" type="datetimeFigureOut">
              <a:rPr lang="en-US" smtClean="0"/>
              <a:t>10/19/25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291664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86BAF-3B55-7A47-97ED-BD3C41571461}" type="datetimeFigureOut">
              <a:rPr lang="en-US" smtClean="0"/>
              <a:t>10/19/25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1904271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86BAF-3B55-7A47-97ED-BD3C41571461}" type="datetimeFigureOut">
              <a:rPr lang="en-US" smtClean="0"/>
              <a:t>10/19/25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054CD-CE2C-C647-913A-C226C73FBF13}" type="slidenum">
              <a:rPr lang="en-US" smtClean="0"/>
              <a:t>‹#›</a:t>
            </a:fld>
            <a:endParaRPr lang="en-US"/>
          </a:p>
        </p:txBody>
      </p:sp>
    </p:spTree>
    <p:extLst>
      <p:ext uri="{BB962C8B-B14F-4D97-AF65-F5344CB8AC3E}">
        <p14:creationId xmlns:p14="http://schemas.microsoft.com/office/powerpoint/2010/main" val="3819466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C86BAF-3B55-7A47-97ED-BD3C41571461}" type="datetimeFigureOut">
              <a:rPr lang="en-US" smtClean="0"/>
              <a:t>10/19/25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F054CD-CE2C-C647-913A-C226C73FBF13}" type="slidenum">
              <a:rPr lang="en-US" smtClean="0"/>
              <a:t>‹#›</a:t>
            </a:fld>
            <a:endParaRPr lang="en-US"/>
          </a:p>
        </p:txBody>
      </p:sp>
    </p:spTree>
    <p:extLst>
      <p:ext uri="{BB962C8B-B14F-4D97-AF65-F5344CB8AC3E}">
        <p14:creationId xmlns:p14="http://schemas.microsoft.com/office/powerpoint/2010/main" val="1807762182"/>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4;p14">
            <a:extLst>
              <a:ext uri="{FF2B5EF4-FFF2-40B4-BE49-F238E27FC236}">
                <a16:creationId xmlns:a16="http://schemas.microsoft.com/office/drawing/2014/main" id="{EDB9A7BF-C919-F378-DACD-E36400F8F0B3}"/>
              </a:ext>
            </a:extLst>
          </p:cNvPr>
          <p:cNvSpPr txBox="1">
            <a:spLocks noGrp="1"/>
          </p:cNvSpPr>
          <p:nvPr>
            <p:ph type="title"/>
          </p:nvPr>
        </p:nvSpPr>
        <p:spPr>
          <a:xfrm>
            <a:off x="913800" y="1560306"/>
            <a:ext cx="11087700" cy="1110800"/>
          </a:xfrm>
          <a:prstGeom prst="rect">
            <a:avLst/>
          </a:prstGeom>
          <a:noFill/>
          <a:ln>
            <a:noFill/>
          </a:ln>
        </p:spPr>
        <p:txBody>
          <a:bodyPr spcFirstLastPara="1" vert="horz" wrap="square" lIns="121900" tIns="121900" rIns="121900" bIns="121900" rtlCol="0" anchor="ctr" anchorCtr="0">
            <a:noAutofit/>
          </a:bodyPr>
          <a:lstStyle/>
          <a:p>
            <a:pPr>
              <a:buSzPts val="990"/>
            </a:pPr>
            <a:r>
              <a:rPr lang="en-US" sz="4000" b="1" dirty="0">
                <a:solidFill>
                  <a:srgbClr val="1A2835"/>
                </a:solidFill>
              </a:rPr>
              <a:t>Improving Human Verification of LLM Reasoning through Interactive Explanation Interfaces</a:t>
            </a:r>
            <a:endParaRPr sz="4000" b="1" dirty="0">
              <a:solidFill>
                <a:srgbClr val="1A2835"/>
              </a:solidFill>
            </a:endParaRPr>
          </a:p>
        </p:txBody>
      </p:sp>
      <p:sp>
        <p:nvSpPr>
          <p:cNvPr id="4" name="Google Shape;55;p14">
            <a:extLst>
              <a:ext uri="{FF2B5EF4-FFF2-40B4-BE49-F238E27FC236}">
                <a16:creationId xmlns:a16="http://schemas.microsoft.com/office/drawing/2014/main" id="{F2EC9B14-09CA-6BB9-ABD1-846294C67412}"/>
              </a:ext>
            </a:extLst>
          </p:cNvPr>
          <p:cNvSpPr txBox="1">
            <a:spLocks/>
          </p:cNvSpPr>
          <p:nvPr/>
        </p:nvSpPr>
        <p:spPr>
          <a:xfrm>
            <a:off x="913800" y="3379731"/>
            <a:ext cx="10364400" cy="494800"/>
          </a:xfrm>
          <a:prstGeom prst="rect">
            <a:avLst/>
          </a:prstGeom>
          <a:noFill/>
          <a:ln>
            <a:noFill/>
          </a:ln>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SzPts val="1018"/>
              <a:buNone/>
            </a:pPr>
            <a:r>
              <a:rPr lang="en-US" sz="2133" dirty="0">
                <a:solidFill>
                  <a:srgbClr val="1A2835"/>
                </a:solidFill>
              </a:rPr>
              <a:t>Runtao(Miles) Zhou, Giang Nguyen, Nikita </a:t>
            </a:r>
            <a:r>
              <a:rPr lang="en-US" sz="2133" dirty="0" err="1">
                <a:solidFill>
                  <a:srgbClr val="1A2835"/>
                </a:solidFill>
              </a:rPr>
              <a:t>Kharya</a:t>
            </a:r>
            <a:r>
              <a:rPr lang="en-US" sz="2133" dirty="0">
                <a:solidFill>
                  <a:srgbClr val="1A2835"/>
                </a:solidFill>
              </a:rPr>
              <a:t>, Anh Nguyen, Chirag Agarwal</a:t>
            </a:r>
          </a:p>
        </p:txBody>
      </p:sp>
      <p:pic>
        <p:nvPicPr>
          <p:cNvPr id="2050" name="Picture 2" descr="Virginia Cavaliers Logo and symbol, meaning, history, PNG, brand">
            <a:extLst>
              <a:ext uri="{FF2B5EF4-FFF2-40B4-BE49-F238E27FC236}">
                <a16:creationId xmlns:a16="http://schemas.microsoft.com/office/drawing/2014/main" id="{AB255B61-87C9-2410-F974-6F66E7206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5995" y="5138556"/>
            <a:ext cx="2377734" cy="13374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9EF01D7-FE9C-AC26-DF11-D803CE8B20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97091" y="5138556"/>
            <a:ext cx="1563400" cy="1337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0554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87B15-A0DF-A51E-5DE6-BF14C0D7FBE2}"/>
            </a:ext>
          </a:extLst>
        </p:cNvPr>
        <p:cNvGrpSpPr/>
        <p:nvPr/>
      </p:nvGrpSpPr>
      <p:grpSpPr>
        <a:xfrm>
          <a:off x="0" y="0"/>
          <a:ext cx="0" cy="0"/>
          <a:chOff x="0" y="0"/>
          <a:chExt cx="0" cy="0"/>
        </a:xfrm>
      </p:grpSpPr>
      <p:sp>
        <p:nvSpPr>
          <p:cNvPr id="6" name="Google Shape;53;p14">
            <a:extLst>
              <a:ext uri="{FF2B5EF4-FFF2-40B4-BE49-F238E27FC236}">
                <a16:creationId xmlns:a16="http://schemas.microsoft.com/office/drawing/2014/main" id="{29FCF85E-95B3-4965-599F-16A4BC8A5728}"/>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2</a:t>
            </a:fld>
            <a:endParaRPr sz="1600">
              <a:solidFill>
                <a:srgbClr val="1A2835"/>
              </a:solidFill>
              <a:latin typeface="Franklin Gothic"/>
              <a:ea typeface="Franklin Gothic"/>
              <a:cs typeface="Franklin Gothic"/>
              <a:sym typeface="Franklin Gothic"/>
            </a:endParaRPr>
          </a:p>
        </p:txBody>
      </p:sp>
      <p:pic>
        <p:nvPicPr>
          <p:cNvPr id="7" name="Picture 6">
            <a:extLst>
              <a:ext uri="{FF2B5EF4-FFF2-40B4-BE49-F238E27FC236}">
                <a16:creationId xmlns:a16="http://schemas.microsoft.com/office/drawing/2014/main" id="{FBC38810-3080-FFC9-D2EF-93010EA62DF4}"/>
              </a:ext>
            </a:extLst>
          </p:cNvPr>
          <p:cNvPicPr>
            <a:picLocks noChangeAspect="1"/>
          </p:cNvPicPr>
          <p:nvPr/>
        </p:nvPicPr>
        <p:blipFill>
          <a:blip r:embed="rId3"/>
          <a:srcRect l="621" r="3143"/>
          <a:stretch>
            <a:fillRect/>
          </a:stretch>
        </p:blipFill>
        <p:spPr>
          <a:xfrm>
            <a:off x="0" y="1328486"/>
            <a:ext cx="12116733" cy="5020581"/>
          </a:xfrm>
          <a:prstGeom prst="rect">
            <a:avLst/>
          </a:prstGeom>
        </p:spPr>
      </p:pic>
      <p:sp>
        <p:nvSpPr>
          <p:cNvPr id="8" name="TextBox 7">
            <a:extLst>
              <a:ext uri="{FF2B5EF4-FFF2-40B4-BE49-F238E27FC236}">
                <a16:creationId xmlns:a16="http://schemas.microsoft.com/office/drawing/2014/main" id="{D931B421-33E0-FA13-28E6-6D2122D6B2AC}"/>
              </a:ext>
            </a:extLst>
          </p:cNvPr>
          <p:cNvSpPr txBox="1"/>
          <p:nvPr/>
        </p:nvSpPr>
        <p:spPr>
          <a:xfrm>
            <a:off x="420129" y="234778"/>
            <a:ext cx="11219935" cy="1077218"/>
          </a:xfrm>
          <a:prstGeom prst="rect">
            <a:avLst/>
          </a:prstGeom>
          <a:noFill/>
        </p:spPr>
        <p:txBody>
          <a:bodyPr wrap="square" rtlCol="0">
            <a:spAutoFit/>
          </a:bodyPr>
          <a:lstStyle/>
          <a:p>
            <a:r>
              <a:rPr lang="en-US" sz="3200" b="1" dirty="0"/>
              <a:t>Traditional LLM outputs are text heavy and hard for users to read through and verify its reasoning.  </a:t>
            </a:r>
          </a:p>
        </p:txBody>
      </p:sp>
    </p:spTree>
    <p:extLst>
      <p:ext uri="{BB962C8B-B14F-4D97-AF65-F5344CB8AC3E}">
        <p14:creationId xmlns:p14="http://schemas.microsoft.com/office/powerpoint/2010/main" val="3957787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0A03-4208-A45D-2ED5-DCA38B77D9F8}"/>
            </a:ext>
          </a:extLst>
        </p:cNvPr>
        <p:cNvGrpSpPr/>
        <p:nvPr/>
      </p:nvGrpSpPr>
      <p:grpSpPr>
        <a:xfrm>
          <a:off x="0" y="0"/>
          <a:ext cx="0" cy="0"/>
          <a:chOff x="0" y="0"/>
          <a:chExt cx="0" cy="0"/>
        </a:xfrm>
      </p:grpSpPr>
      <p:sp>
        <p:nvSpPr>
          <p:cNvPr id="6" name="Google Shape;53;p14">
            <a:extLst>
              <a:ext uri="{FF2B5EF4-FFF2-40B4-BE49-F238E27FC236}">
                <a16:creationId xmlns:a16="http://schemas.microsoft.com/office/drawing/2014/main" id="{BF458DC1-EE4D-B625-3696-DC61956CB073}"/>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3</a:t>
            </a:fld>
            <a:endParaRPr sz="1600">
              <a:solidFill>
                <a:srgbClr val="1A2835"/>
              </a:solidFill>
              <a:latin typeface="Franklin Gothic"/>
              <a:ea typeface="Franklin Gothic"/>
              <a:cs typeface="Franklin Gothic"/>
              <a:sym typeface="Franklin Gothic"/>
            </a:endParaRPr>
          </a:p>
        </p:txBody>
      </p:sp>
      <p:pic>
        <p:nvPicPr>
          <p:cNvPr id="7" name="Picture 6">
            <a:extLst>
              <a:ext uri="{FF2B5EF4-FFF2-40B4-BE49-F238E27FC236}">
                <a16:creationId xmlns:a16="http://schemas.microsoft.com/office/drawing/2014/main" id="{05179786-145B-92A0-891E-C38AB5F10D8B}"/>
              </a:ext>
            </a:extLst>
          </p:cNvPr>
          <p:cNvPicPr>
            <a:picLocks noChangeAspect="1"/>
          </p:cNvPicPr>
          <p:nvPr/>
        </p:nvPicPr>
        <p:blipFill>
          <a:blip r:embed="rId3"/>
          <a:stretch>
            <a:fillRect/>
          </a:stretch>
        </p:blipFill>
        <p:spPr>
          <a:xfrm>
            <a:off x="1327731" y="719240"/>
            <a:ext cx="9885099" cy="5986360"/>
          </a:xfrm>
          <a:prstGeom prst="rect">
            <a:avLst/>
          </a:prstGeom>
        </p:spPr>
      </p:pic>
      <p:sp>
        <p:nvSpPr>
          <p:cNvPr id="8" name="TextBox 7">
            <a:extLst>
              <a:ext uri="{FF2B5EF4-FFF2-40B4-BE49-F238E27FC236}">
                <a16:creationId xmlns:a16="http://schemas.microsoft.com/office/drawing/2014/main" id="{6691E034-7E4D-58B3-0848-E1364ED0EA43}"/>
              </a:ext>
            </a:extLst>
          </p:cNvPr>
          <p:cNvSpPr txBox="1"/>
          <p:nvPr/>
        </p:nvSpPr>
        <p:spPr>
          <a:xfrm>
            <a:off x="296561" y="152400"/>
            <a:ext cx="11581109" cy="523220"/>
          </a:xfrm>
          <a:prstGeom prst="rect">
            <a:avLst/>
          </a:prstGeom>
          <a:noFill/>
        </p:spPr>
        <p:txBody>
          <a:bodyPr wrap="square" rtlCol="0">
            <a:spAutoFit/>
          </a:bodyPr>
          <a:lstStyle/>
          <a:p>
            <a:r>
              <a:rPr lang="en-US" sz="2800" b="1" dirty="0"/>
              <a:t>Traditional </a:t>
            </a:r>
            <a:r>
              <a:rPr lang="en-US" sz="2800" b="1" dirty="0" err="1"/>
              <a:t>CoT</a:t>
            </a:r>
            <a:r>
              <a:rPr lang="en-US" sz="2800" b="1" dirty="0"/>
              <a:t> and 3  Interactive Explanation Formats</a:t>
            </a:r>
          </a:p>
        </p:txBody>
      </p:sp>
    </p:spTree>
    <p:extLst>
      <p:ext uri="{BB962C8B-B14F-4D97-AF65-F5344CB8AC3E}">
        <p14:creationId xmlns:p14="http://schemas.microsoft.com/office/powerpoint/2010/main" val="4285861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0D76B-D416-EF0D-C578-007889E5C0A2}"/>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3B0C1ED3-32EA-1211-1D14-08BE7DCB767B}"/>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4</a:t>
            </a:fld>
            <a:endParaRPr sz="1600">
              <a:solidFill>
                <a:srgbClr val="1A2835"/>
              </a:solidFill>
              <a:latin typeface="Franklin Gothic"/>
              <a:ea typeface="Franklin Gothic"/>
              <a:cs typeface="Franklin Gothic"/>
              <a:sym typeface="Franklin Gothic"/>
            </a:endParaRPr>
          </a:p>
        </p:txBody>
      </p:sp>
      <p:pic>
        <p:nvPicPr>
          <p:cNvPr id="3" name="Picture 2">
            <a:extLst>
              <a:ext uri="{FF2B5EF4-FFF2-40B4-BE49-F238E27FC236}">
                <a16:creationId xmlns:a16="http://schemas.microsoft.com/office/drawing/2014/main" id="{E7C52BAF-19CF-4E5E-0C17-4FD948608E46}"/>
              </a:ext>
            </a:extLst>
          </p:cNvPr>
          <p:cNvPicPr>
            <a:picLocks noChangeAspect="1"/>
          </p:cNvPicPr>
          <p:nvPr/>
        </p:nvPicPr>
        <p:blipFill>
          <a:blip r:embed="rId3"/>
          <a:stretch>
            <a:fillRect/>
          </a:stretch>
        </p:blipFill>
        <p:spPr>
          <a:xfrm>
            <a:off x="541070" y="957943"/>
            <a:ext cx="11443289" cy="5292723"/>
          </a:xfrm>
          <a:prstGeom prst="rect">
            <a:avLst/>
          </a:prstGeom>
        </p:spPr>
      </p:pic>
      <p:sp>
        <p:nvSpPr>
          <p:cNvPr id="4" name="TextBox 3">
            <a:extLst>
              <a:ext uri="{FF2B5EF4-FFF2-40B4-BE49-F238E27FC236}">
                <a16:creationId xmlns:a16="http://schemas.microsoft.com/office/drawing/2014/main" id="{4D0D2662-9429-B410-9714-6F87224043B1}"/>
              </a:ext>
            </a:extLst>
          </p:cNvPr>
          <p:cNvSpPr txBox="1"/>
          <p:nvPr/>
        </p:nvSpPr>
        <p:spPr>
          <a:xfrm>
            <a:off x="541070" y="335532"/>
            <a:ext cx="6561438" cy="523220"/>
          </a:xfrm>
          <a:prstGeom prst="rect">
            <a:avLst/>
          </a:prstGeom>
          <a:noFill/>
        </p:spPr>
        <p:txBody>
          <a:bodyPr wrap="square" rtlCol="0">
            <a:spAutoFit/>
          </a:bodyPr>
          <a:lstStyle/>
          <a:p>
            <a:r>
              <a:rPr lang="en-US" sz="2800" b="1" dirty="0"/>
              <a:t>Explanation Generation Pipeline</a:t>
            </a:r>
          </a:p>
        </p:txBody>
      </p:sp>
    </p:spTree>
    <p:extLst>
      <p:ext uri="{BB962C8B-B14F-4D97-AF65-F5344CB8AC3E}">
        <p14:creationId xmlns:p14="http://schemas.microsoft.com/office/powerpoint/2010/main" val="168845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157C2-812C-6057-0304-852DD49CADD5}"/>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382961B3-487E-BB00-9C11-1552255B7140}"/>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5</a:t>
            </a:fld>
            <a:endParaRPr sz="1600">
              <a:solidFill>
                <a:srgbClr val="1A2835"/>
              </a:solidFill>
              <a:latin typeface="Franklin Gothic"/>
              <a:ea typeface="Franklin Gothic"/>
              <a:cs typeface="Franklin Gothic"/>
              <a:sym typeface="Franklin Gothic"/>
            </a:endParaRPr>
          </a:p>
        </p:txBody>
      </p:sp>
      <p:pic>
        <p:nvPicPr>
          <p:cNvPr id="3" name="Picture 2">
            <a:extLst>
              <a:ext uri="{FF2B5EF4-FFF2-40B4-BE49-F238E27FC236}">
                <a16:creationId xmlns:a16="http://schemas.microsoft.com/office/drawing/2014/main" id="{8471224A-E1FA-8C3E-4008-CC5B9A682002}"/>
              </a:ext>
            </a:extLst>
          </p:cNvPr>
          <p:cNvPicPr>
            <a:picLocks noChangeAspect="1"/>
          </p:cNvPicPr>
          <p:nvPr/>
        </p:nvPicPr>
        <p:blipFill>
          <a:blip r:embed="rId3"/>
          <a:stretch>
            <a:fillRect/>
          </a:stretch>
        </p:blipFill>
        <p:spPr>
          <a:xfrm>
            <a:off x="881693" y="837923"/>
            <a:ext cx="10711236" cy="5412743"/>
          </a:xfrm>
          <a:prstGeom prst="rect">
            <a:avLst/>
          </a:prstGeom>
        </p:spPr>
      </p:pic>
      <p:sp>
        <p:nvSpPr>
          <p:cNvPr id="4" name="TextBox 3">
            <a:extLst>
              <a:ext uri="{FF2B5EF4-FFF2-40B4-BE49-F238E27FC236}">
                <a16:creationId xmlns:a16="http://schemas.microsoft.com/office/drawing/2014/main" id="{A7AFE67D-6E58-E996-7367-80FFF5D15D80}"/>
              </a:ext>
            </a:extLst>
          </p:cNvPr>
          <p:cNvSpPr txBox="1"/>
          <p:nvPr/>
        </p:nvSpPr>
        <p:spPr>
          <a:xfrm>
            <a:off x="541070" y="335532"/>
            <a:ext cx="6561438" cy="523220"/>
          </a:xfrm>
          <a:prstGeom prst="rect">
            <a:avLst/>
          </a:prstGeom>
          <a:noFill/>
        </p:spPr>
        <p:txBody>
          <a:bodyPr wrap="square" rtlCol="0">
            <a:spAutoFit/>
          </a:bodyPr>
          <a:lstStyle/>
          <a:p>
            <a:r>
              <a:rPr lang="en-US" sz="2800" b="1" dirty="0"/>
              <a:t>User Study Setup</a:t>
            </a:r>
          </a:p>
        </p:txBody>
      </p:sp>
    </p:spTree>
    <p:extLst>
      <p:ext uri="{BB962C8B-B14F-4D97-AF65-F5344CB8AC3E}">
        <p14:creationId xmlns:p14="http://schemas.microsoft.com/office/powerpoint/2010/main" val="3823556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6048-4CFF-000E-0954-D198DA0EE2F7}"/>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42D54CEA-7DC2-1B49-779D-FC5CB6D93293}"/>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6</a:t>
            </a:fld>
            <a:endParaRPr sz="1600">
              <a:solidFill>
                <a:srgbClr val="1A2835"/>
              </a:solidFill>
              <a:latin typeface="Franklin Gothic"/>
              <a:ea typeface="Franklin Gothic"/>
              <a:cs typeface="Franklin Gothic"/>
              <a:sym typeface="Franklin Gothic"/>
            </a:endParaRPr>
          </a:p>
        </p:txBody>
      </p:sp>
      <p:sp>
        <p:nvSpPr>
          <p:cNvPr id="3" name="TextBox 2">
            <a:extLst>
              <a:ext uri="{FF2B5EF4-FFF2-40B4-BE49-F238E27FC236}">
                <a16:creationId xmlns:a16="http://schemas.microsoft.com/office/drawing/2014/main" id="{0F767858-0D3C-A55E-7D20-62CF2548E134}"/>
              </a:ext>
            </a:extLst>
          </p:cNvPr>
          <p:cNvSpPr txBox="1"/>
          <p:nvPr/>
        </p:nvSpPr>
        <p:spPr>
          <a:xfrm>
            <a:off x="856842" y="2242457"/>
            <a:ext cx="10798629" cy="2677656"/>
          </a:xfrm>
          <a:prstGeom prst="rect">
            <a:avLst/>
          </a:prstGeom>
          <a:noFill/>
        </p:spPr>
        <p:txBody>
          <a:bodyPr wrap="square" rtlCol="0">
            <a:spAutoFit/>
          </a:bodyPr>
          <a:lstStyle/>
          <a:p>
            <a:r>
              <a:rPr lang="en-US" sz="2800" b="1" dirty="0"/>
              <a:t>RQ1) </a:t>
            </a:r>
            <a:r>
              <a:rPr lang="en-US" sz="2800" dirty="0"/>
              <a:t>Do interactive explanation formats improve verification accuracy compared to traditional text outputs?</a:t>
            </a:r>
          </a:p>
          <a:p>
            <a:r>
              <a:rPr lang="en-US" sz="2800" b="1" dirty="0"/>
              <a:t>RQ2) </a:t>
            </a:r>
            <a:r>
              <a:rPr lang="en-US" sz="2800" dirty="0"/>
              <a:t>How do these formats influence the time and effort required to verify reasoning?</a:t>
            </a:r>
          </a:p>
          <a:p>
            <a:r>
              <a:rPr lang="en-US" sz="2800" b="1" dirty="0"/>
              <a:t>RQ3) </a:t>
            </a:r>
            <a:r>
              <a:rPr lang="en-US" sz="2800" dirty="0"/>
              <a:t>Do users prefer interactive explanation formats over traditional text-based outputs?</a:t>
            </a:r>
          </a:p>
        </p:txBody>
      </p:sp>
      <p:sp>
        <p:nvSpPr>
          <p:cNvPr id="4" name="TextBox 3">
            <a:extLst>
              <a:ext uri="{FF2B5EF4-FFF2-40B4-BE49-F238E27FC236}">
                <a16:creationId xmlns:a16="http://schemas.microsoft.com/office/drawing/2014/main" id="{714CA1A6-9C68-15DA-6C9B-AC2E916A8D1F}"/>
              </a:ext>
            </a:extLst>
          </p:cNvPr>
          <p:cNvSpPr txBox="1"/>
          <p:nvPr/>
        </p:nvSpPr>
        <p:spPr>
          <a:xfrm>
            <a:off x="704334" y="552683"/>
            <a:ext cx="6561438" cy="523220"/>
          </a:xfrm>
          <a:prstGeom prst="rect">
            <a:avLst/>
          </a:prstGeom>
          <a:noFill/>
        </p:spPr>
        <p:txBody>
          <a:bodyPr wrap="square" rtlCol="0">
            <a:spAutoFit/>
          </a:bodyPr>
          <a:lstStyle/>
          <a:p>
            <a:r>
              <a:rPr lang="en-US" sz="2800" b="1" dirty="0"/>
              <a:t>Research Questions</a:t>
            </a:r>
          </a:p>
        </p:txBody>
      </p:sp>
    </p:spTree>
    <p:extLst>
      <p:ext uri="{BB962C8B-B14F-4D97-AF65-F5344CB8AC3E}">
        <p14:creationId xmlns:p14="http://schemas.microsoft.com/office/powerpoint/2010/main" val="379928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11E85-A5F5-0B52-3EEB-50AF1F872949}"/>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E410FB16-2F4F-2C8C-AD20-4EE89B99FAAA}"/>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7</a:t>
            </a:fld>
            <a:endParaRPr sz="1600">
              <a:solidFill>
                <a:srgbClr val="1A2835"/>
              </a:solidFill>
              <a:latin typeface="Franklin Gothic"/>
              <a:ea typeface="Franklin Gothic"/>
              <a:cs typeface="Franklin Gothic"/>
              <a:sym typeface="Franklin Gothic"/>
            </a:endParaRPr>
          </a:p>
        </p:txBody>
      </p:sp>
      <p:sp>
        <p:nvSpPr>
          <p:cNvPr id="3" name="TextBox 2">
            <a:extLst>
              <a:ext uri="{FF2B5EF4-FFF2-40B4-BE49-F238E27FC236}">
                <a16:creationId xmlns:a16="http://schemas.microsoft.com/office/drawing/2014/main" id="{04A98244-6FB7-6D78-D0B4-097AB0F5AA19}"/>
              </a:ext>
            </a:extLst>
          </p:cNvPr>
          <p:cNvSpPr txBox="1"/>
          <p:nvPr/>
        </p:nvSpPr>
        <p:spPr>
          <a:xfrm>
            <a:off x="617837" y="790832"/>
            <a:ext cx="9279925" cy="4247317"/>
          </a:xfrm>
          <a:prstGeom prst="rect">
            <a:avLst/>
          </a:prstGeom>
          <a:noFill/>
        </p:spPr>
        <p:txBody>
          <a:bodyPr wrap="square" rtlCol="0">
            <a:spAutoFit/>
          </a:bodyPr>
          <a:lstStyle/>
          <a:p>
            <a:r>
              <a:rPr lang="en-US" sz="2800" b="1" dirty="0"/>
              <a:t>Quantitative Measurement:</a:t>
            </a:r>
          </a:p>
          <a:p>
            <a:endParaRPr lang="en-US" sz="2800" b="1" dirty="0"/>
          </a:p>
          <a:p>
            <a:pPr marL="285750" indent="-285750">
              <a:buFont typeface="Arial" panose="020B0604020202020204" pitchFamily="34" charset="0"/>
              <a:buChar char="•"/>
            </a:pPr>
            <a:r>
              <a:rPr lang="en-US" sz="2800" dirty="0"/>
              <a:t>Verification Accuracy</a:t>
            </a:r>
          </a:p>
          <a:p>
            <a:pPr marL="285750" indent="-285750">
              <a:buFont typeface="Arial" panose="020B0604020202020204" pitchFamily="34" charset="0"/>
              <a:buChar char="•"/>
            </a:pPr>
            <a:r>
              <a:rPr lang="en-US" sz="2800" dirty="0"/>
              <a:t>Error Localization</a:t>
            </a:r>
          </a:p>
          <a:p>
            <a:pPr marL="285750" indent="-285750">
              <a:buFont typeface="Arial" panose="020B0604020202020204" pitchFamily="34" charset="0"/>
              <a:buChar char="•"/>
            </a:pPr>
            <a:r>
              <a:rPr lang="en-US" sz="2800" dirty="0"/>
              <a:t>Response Time</a:t>
            </a:r>
          </a:p>
          <a:p>
            <a:pPr marL="285750" indent="-285750">
              <a:buFont typeface="Arial" panose="020B0604020202020204" pitchFamily="34" charset="0"/>
              <a:buChar char="•"/>
            </a:pPr>
            <a:endParaRPr lang="en-US" sz="2800" dirty="0"/>
          </a:p>
          <a:p>
            <a:r>
              <a:rPr lang="en-US" sz="2800" b="1" dirty="0"/>
              <a:t>Qualitative Measurement:</a:t>
            </a:r>
          </a:p>
          <a:p>
            <a:pPr marL="285750" indent="-285750">
              <a:buFont typeface="Arial" panose="020B0604020202020204" pitchFamily="34" charset="0"/>
              <a:buChar char="•"/>
            </a:pPr>
            <a:r>
              <a:rPr lang="en-US" sz="2800" dirty="0"/>
              <a:t>General User Satisfaction Questionnaire</a:t>
            </a:r>
          </a:p>
          <a:p>
            <a:pPr marL="285750" indent="-285750">
              <a:buFont typeface="Arial" panose="020B0604020202020204" pitchFamily="34" charset="0"/>
              <a:buChar char="•"/>
            </a:pPr>
            <a:r>
              <a:rPr lang="en-US" sz="2800" dirty="0"/>
              <a:t>Design Feature Questionnaire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84023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18E5-0F68-D254-4CEF-B6C1E1F1DE5D}"/>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2ADB0538-5980-8D1F-31A4-010FA2DF1A5A}"/>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8</a:t>
            </a:fld>
            <a:endParaRPr sz="1600">
              <a:solidFill>
                <a:srgbClr val="1A2835"/>
              </a:solidFill>
              <a:latin typeface="Franklin Gothic"/>
              <a:ea typeface="Franklin Gothic"/>
              <a:cs typeface="Franklin Gothic"/>
              <a:sym typeface="Franklin Gothic"/>
            </a:endParaRPr>
          </a:p>
        </p:txBody>
      </p:sp>
      <p:sp>
        <p:nvSpPr>
          <p:cNvPr id="3" name="TextBox 2">
            <a:extLst>
              <a:ext uri="{FF2B5EF4-FFF2-40B4-BE49-F238E27FC236}">
                <a16:creationId xmlns:a16="http://schemas.microsoft.com/office/drawing/2014/main" id="{025332D3-AFCD-24C2-9985-A574FE90AFE9}"/>
              </a:ext>
            </a:extLst>
          </p:cNvPr>
          <p:cNvSpPr txBox="1"/>
          <p:nvPr/>
        </p:nvSpPr>
        <p:spPr>
          <a:xfrm>
            <a:off x="1486930" y="2321004"/>
            <a:ext cx="9218140" cy="2215991"/>
          </a:xfrm>
          <a:prstGeom prst="rect">
            <a:avLst/>
          </a:prstGeom>
          <a:noFill/>
        </p:spPr>
        <p:txBody>
          <a:bodyPr wrap="square" rtlCol="0">
            <a:spAutoFit/>
          </a:bodyPr>
          <a:lstStyle/>
          <a:p>
            <a:r>
              <a:rPr lang="en-US" sz="4000" b="1" dirty="0"/>
              <a:t>RQ1) </a:t>
            </a:r>
            <a:r>
              <a:rPr lang="en-US" sz="4000" dirty="0"/>
              <a:t>Do interactive explanation formats improve verification accuracy compared to traditional text outputs?</a:t>
            </a:r>
          </a:p>
          <a:p>
            <a:endParaRPr lang="en-US" dirty="0"/>
          </a:p>
        </p:txBody>
      </p:sp>
    </p:spTree>
    <p:extLst>
      <p:ext uri="{BB962C8B-B14F-4D97-AF65-F5344CB8AC3E}">
        <p14:creationId xmlns:p14="http://schemas.microsoft.com/office/powerpoint/2010/main" val="3345111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A6E63-2F7B-BC28-5C9E-B2E5FC0E957F}"/>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639B28CC-9AAC-3662-9035-DE875DCB3C5B}"/>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9</a:t>
            </a:fld>
            <a:endParaRPr sz="1600">
              <a:solidFill>
                <a:srgbClr val="1A2835"/>
              </a:solidFill>
              <a:latin typeface="Franklin Gothic"/>
              <a:ea typeface="Franklin Gothic"/>
              <a:cs typeface="Franklin Gothic"/>
              <a:sym typeface="Franklin Gothic"/>
            </a:endParaRPr>
          </a:p>
        </p:txBody>
      </p:sp>
      <p:pic>
        <p:nvPicPr>
          <p:cNvPr id="3" name="Picture 2">
            <a:extLst>
              <a:ext uri="{FF2B5EF4-FFF2-40B4-BE49-F238E27FC236}">
                <a16:creationId xmlns:a16="http://schemas.microsoft.com/office/drawing/2014/main" id="{0EE653CF-7F81-F4B4-83CD-A179B543B0B5}"/>
              </a:ext>
            </a:extLst>
          </p:cNvPr>
          <p:cNvPicPr>
            <a:picLocks noChangeAspect="1"/>
          </p:cNvPicPr>
          <p:nvPr/>
        </p:nvPicPr>
        <p:blipFill>
          <a:blip r:embed="rId3"/>
          <a:stretch>
            <a:fillRect/>
          </a:stretch>
        </p:blipFill>
        <p:spPr>
          <a:xfrm>
            <a:off x="6984735" y="1950698"/>
            <a:ext cx="3962790" cy="3568700"/>
          </a:xfrm>
          <a:prstGeom prst="rect">
            <a:avLst/>
          </a:prstGeom>
        </p:spPr>
      </p:pic>
      <p:pic>
        <p:nvPicPr>
          <p:cNvPr id="4" name="Picture 3">
            <a:extLst>
              <a:ext uri="{FF2B5EF4-FFF2-40B4-BE49-F238E27FC236}">
                <a16:creationId xmlns:a16="http://schemas.microsoft.com/office/drawing/2014/main" id="{718E0FEB-530C-5B0A-260B-5E252CCF7CF7}"/>
              </a:ext>
            </a:extLst>
          </p:cNvPr>
          <p:cNvPicPr>
            <a:picLocks noChangeAspect="1"/>
          </p:cNvPicPr>
          <p:nvPr/>
        </p:nvPicPr>
        <p:blipFill>
          <a:blip r:embed="rId4"/>
          <a:stretch>
            <a:fillRect/>
          </a:stretch>
        </p:blipFill>
        <p:spPr>
          <a:xfrm>
            <a:off x="1244475" y="1950698"/>
            <a:ext cx="4062483" cy="3568700"/>
          </a:xfrm>
          <a:prstGeom prst="rect">
            <a:avLst/>
          </a:prstGeom>
        </p:spPr>
      </p:pic>
      <p:sp>
        <p:nvSpPr>
          <p:cNvPr id="5" name="TextBox 4">
            <a:extLst>
              <a:ext uri="{FF2B5EF4-FFF2-40B4-BE49-F238E27FC236}">
                <a16:creationId xmlns:a16="http://schemas.microsoft.com/office/drawing/2014/main" id="{2269D08D-161A-B341-6A4C-DAEB571C9443}"/>
              </a:ext>
            </a:extLst>
          </p:cNvPr>
          <p:cNvSpPr txBox="1"/>
          <p:nvPr/>
        </p:nvSpPr>
        <p:spPr>
          <a:xfrm>
            <a:off x="6889718" y="1228571"/>
            <a:ext cx="3876441" cy="369332"/>
          </a:xfrm>
          <a:prstGeom prst="rect">
            <a:avLst/>
          </a:prstGeom>
          <a:noFill/>
        </p:spPr>
        <p:txBody>
          <a:bodyPr wrap="square" rtlCol="0">
            <a:spAutoFit/>
          </a:bodyPr>
          <a:lstStyle/>
          <a:p>
            <a:pPr algn="ctr"/>
            <a:r>
              <a:rPr lang="en-US" b="1" dirty="0"/>
              <a:t>Error Localization</a:t>
            </a:r>
          </a:p>
        </p:txBody>
      </p:sp>
      <p:sp>
        <p:nvSpPr>
          <p:cNvPr id="6" name="TextBox 5">
            <a:extLst>
              <a:ext uri="{FF2B5EF4-FFF2-40B4-BE49-F238E27FC236}">
                <a16:creationId xmlns:a16="http://schemas.microsoft.com/office/drawing/2014/main" id="{2843D3C7-AAD0-9D39-7697-4DF7E1489400}"/>
              </a:ext>
            </a:extLst>
          </p:cNvPr>
          <p:cNvSpPr txBox="1"/>
          <p:nvPr/>
        </p:nvSpPr>
        <p:spPr>
          <a:xfrm>
            <a:off x="1425841" y="1228571"/>
            <a:ext cx="3699750" cy="369332"/>
          </a:xfrm>
          <a:prstGeom prst="rect">
            <a:avLst/>
          </a:prstGeom>
          <a:noFill/>
        </p:spPr>
        <p:txBody>
          <a:bodyPr wrap="square" rtlCol="0">
            <a:spAutoFit/>
          </a:bodyPr>
          <a:lstStyle/>
          <a:p>
            <a:pPr algn="ctr"/>
            <a:r>
              <a:rPr lang="en-US" b="1" dirty="0"/>
              <a:t>Verification Accuracy</a:t>
            </a:r>
          </a:p>
        </p:txBody>
      </p:sp>
      <p:sp>
        <p:nvSpPr>
          <p:cNvPr id="7" name="TextBox 6">
            <a:extLst>
              <a:ext uri="{FF2B5EF4-FFF2-40B4-BE49-F238E27FC236}">
                <a16:creationId xmlns:a16="http://schemas.microsoft.com/office/drawing/2014/main" id="{ACF34CEA-7CCC-F18B-44F0-D80091AB1973}"/>
              </a:ext>
            </a:extLst>
          </p:cNvPr>
          <p:cNvSpPr txBox="1"/>
          <p:nvPr/>
        </p:nvSpPr>
        <p:spPr>
          <a:xfrm>
            <a:off x="678228" y="478677"/>
            <a:ext cx="6561438" cy="523220"/>
          </a:xfrm>
          <a:prstGeom prst="rect">
            <a:avLst/>
          </a:prstGeom>
          <a:noFill/>
        </p:spPr>
        <p:txBody>
          <a:bodyPr wrap="square" rtlCol="0">
            <a:spAutoFit/>
          </a:bodyPr>
          <a:lstStyle/>
          <a:p>
            <a:r>
              <a:rPr lang="en-US" sz="2800" b="1" dirty="0"/>
              <a:t>RQ1 Results</a:t>
            </a:r>
          </a:p>
        </p:txBody>
      </p:sp>
    </p:spTree>
    <p:extLst>
      <p:ext uri="{BB962C8B-B14F-4D97-AF65-F5344CB8AC3E}">
        <p14:creationId xmlns:p14="http://schemas.microsoft.com/office/powerpoint/2010/main" val="93561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480E5-0AE4-951B-2D24-4A7594BC89DC}"/>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905C5D97-F2B6-2234-C320-971711B7A03E}"/>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fontScale="92500"/>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10</a:t>
            </a:fld>
            <a:endParaRPr sz="1600">
              <a:solidFill>
                <a:srgbClr val="1A2835"/>
              </a:solidFill>
              <a:latin typeface="Franklin Gothic"/>
              <a:ea typeface="Franklin Gothic"/>
              <a:cs typeface="Franklin Gothic"/>
              <a:sym typeface="Franklin Gothic"/>
            </a:endParaRPr>
          </a:p>
        </p:txBody>
      </p:sp>
      <p:sp>
        <p:nvSpPr>
          <p:cNvPr id="3" name="TextBox 2">
            <a:extLst>
              <a:ext uri="{FF2B5EF4-FFF2-40B4-BE49-F238E27FC236}">
                <a16:creationId xmlns:a16="http://schemas.microsoft.com/office/drawing/2014/main" id="{6BFE3CDB-FBE3-69B6-1665-12D5C3599614}"/>
              </a:ext>
            </a:extLst>
          </p:cNvPr>
          <p:cNvSpPr txBox="1"/>
          <p:nvPr/>
        </p:nvSpPr>
        <p:spPr>
          <a:xfrm>
            <a:off x="1486930" y="2321004"/>
            <a:ext cx="9218140" cy="2215991"/>
          </a:xfrm>
          <a:prstGeom prst="rect">
            <a:avLst/>
          </a:prstGeom>
          <a:noFill/>
        </p:spPr>
        <p:txBody>
          <a:bodyPr wrap="square" rtlCol="0">
            <a:spAutoFit/>
          </a:bodyPr>
          <a:lstStyle/>
          <a:p>
            <a:r>
              <a:rPr lang="en-US" sz="4000" b="1" dirty="0"/>
              <a:t>RQ2) </a:t>
            </a:r>
            <a:r>
              <a:rPr lang="en-US" sz="4000" dirty="0"/>
              <a:t>How do these formats influence the time and effort required to verify reasoning?</a:t>
            </a:r>
          </a:p>
          <a:p>
            <a:endParaRPr lang="en-US" dirty="0"/>
          </a:p>
        </p:txBody>
      </p:sp>
    </p:spTree>
    <p:extLst>
      <p:ext uri="{BB962C8B-B14F-4D97-AF65-F5344CB8AC3E}">
        <p14:creationId xmlns:p14="http://schemas.microsoft.com/office/powerpoint/2010/main" val="544659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54A7C-33B9-EA78-2138-81547CC04F3E}"/>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9AE37A06-8190-9FEB-4AEB-07520AC90972}"/>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fontScale="92500"/>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11</a:t>
            </a:fld>
            <a:endParaRPr sz="1600">
              <a:solidFill>
                <a:srgbClr val="1A2835"/>
              </a:solidFill>
              <a:latin typeface="Franklin Gothic"/>
              <a:ea typeface="Franklin Gothic"/>
              <a:cs typeface="Franklin Gothic"/>
              <a:sym typeface="Franklin Gothic"/>
            </a:endParaRPr>
          </a:p>
        </p:txBody>
      </p:sp>
      <p:pic>
        <p:nvPicPr>
          <p:cNvPr id="3" name="Picture 2">
            <a:extLst>
              <a:ext uri="{FF2B5EF4-FFF2-40B4-BE49-F238E27FC236}">
                <a16:creationId xmlns:a16="http://schemas.microsoft.com/office/drawing/2014/main" id="{D03AAE8A-E45A-1121-A4E9-04411FB78A91}"/>
              </a:ext>
            </a:extLst>
          </p:cNvPr>
          <p:cNvPicPr>
            <a:picLocks noChangeAspect="1"/>
          </p:cNvPicPr>
          <p:nvPr/>
        </p:nvPicPr>
        <p:blipFill>
          <a:blip r:embed="rId3"/>
          <a:stretch>
            <a:fillRect/>
          </a:stretch>
        </p:blipFill>
        <p:spPr>
          <a:xfrm>
            <a:off x="3419186" y="2120166"/>
            <a:ext cx="3820480" cy="3568700"/>
          </a:xfrm>
          <a:prstGeom prst="rect">
            <a:avLst/>
          </a:prstGeom>
        </p:spPr>
      </p:pic>
      <p:sp>
        <p:nvSpPr>
          <p:cNvPr id="4" name="TextBox 3">
            <a:extLst>
              <a:ext uri="{FF2B5EF4-FFF2-40B4-BE49-F238E27FC236}">
                <a16:creationId xmlns:a16="http://schemas.microsoft.com/office/drawing/2014/main" id="{46880E89-763B-7D2D-1C7E-C70D804843C0}"/>
              </a:ext>
            </a:extLst>
          </p:cNvPr>
          <p:cNvSpPr txBox="1"/>
          <p:nvPr/>
        </p:nvSpPr>
        <p:spPr>
          <a:xfrm>
            <a:off x="3479551" y="1515808"/>
            <a:ext cx="3699750" cy="369332"/>
          </a:xfrm>
          <a:prstGeom prst="rect">
            <a:avLst/>
          </a:prstGeom>
          <a:noFill/>
        </p:spPr>
        <p:txBody>
          <a:bodyPr wrap="square" rtlCol="0">
            <a:spAutoFit/>
          </a:bodyPr>
          <a:lstStyle/>
          <a:p>
            <a:pPr algn="ctr"/>
            <a:r>
              <a:rPr lang="en-US" b="1" dirty="0"/>
              <a:t>Response Time</a:t>
            </a:r>
          </a:p>
        </p:txBody>
      </p:sp>
      <p:sp>
        <p:nvSpPr>
          <p:cNvPr id="5" name="TextBox 4">
            <a:extLst>
              <a:ext uri="{FF2B5EF4-FFF2-40B4-BE49-F238E27FC236}">
                <a16:creationId xmlns:a16="http://schemas.microsoft.com/office/drawing/2014/main" id="{E58C977C-6FD6-0D09-4715-278F73A5EAA6}"/>
              </a:ext>
            </a:extLst>
          </p:cNvPr>
          <p:cNvSpPr txBox="1"/>
          <p:nvPr/>
        </p:nvSpPr>
        <p:spPr>
          <a:xfrm>
            <a:off x="678228" y="478677"/>
            <a:ext cx="6561438" cy="523220"/>
          </a:xfrm>
          <a:prstGeom prst="rect">
            <a:avLst/>
          </a:prstGeom>
          <a:noFill/>
        </p:spPr>
        <p:txBody>
          <a:bodyPr wrap="square" rtlCol="0">
            <a:spAutoFit/>
          </a:bodyPr>
          <a:lstStyle/>
          <a:p>
            <a:r>
              <a:rPr lang="en-US" sz="2800" b="1" dirty="0"/>
              <a:t>RQ2 Results</a:t>
            </a:r>
          </a:p>
        </p:txBody>
      </p:sp>
    </p:spTree>
    <p:extLst>
      <p:ext uri="{BB962C8B-B14F-4D97-AF65-F5344CB8AC3E}">
        <p14:creationId xmlns:p14="http://schemas.microsoft.com/office/powerpoint/2010/main" val="2268195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C4EF0-8F7F-E97D-7D53-75BBD8EA888F}"/>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CB3BE1BA-4661-452F-0FE8-3D801720E6A7}"/>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fontScale="92500"/>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12</a:t>
            </a:fld>
            <a:endParaRPr sz="1600">
              <a:solidFill>
                <a:srgbClr val="1A2835"/>
              </a:solidFill>
              <a:latin typeface="Franklin Gothic"/>
              <a:ea typeface="Franklin Gothic"/>
              <a:cs typeface="Franklin Gothic"/>
              <a:sym typeface="Franklin Gothic"/>
            </a:endParaRPr>
          </a:p>
        </p:txBody>
      </p:sp>
      <p:sp>
        <p:nvSpPr>
          <p:cNvPr id="3" name="TextBox 2">
            <a:extLst>
              <a:ext uri="{FF2B5EF4-FFF2-40B4-BE49-F238E27FC236}">
                <a16:creationId xmlns:a16="http://schemas.microsoft.com/office/drawing/2014/main" id="{E0536A49-88FD-F85E-0336-99781566CA22}"/>
              </a:ext>
            </a:extLst>
          </p:cNvPr>
          <p:cNvSpPr txBox="1"/>
          <p:nvPr/>
        </p:nvSpPr>
        <p:spPr>
          <a:xfrm>
            <a:off x="1486930" y="2321004"/>
            <a:ext cx="9218140" cy="2215991"/>
          </a:xfrm>
          <a:prstGeom prst="rect">
            <a:avLst/>
          </a:prstGeom>
          <a:noFill/>
        </p:spPr>
        <p:txBody>
          <a:bodyPr wrap="square" rtlCol="0">
            <a:spAutoFit/>
          </a:bodyPr>
          <a:lstStyle/>
          <a:p>
            <a:r>
              <a:rPr lang="en-US" sz="4000" b="1" dirty="0"/>
              <a:t>RQ3) </a:t>
            </a:r>
            <a:r>
              <a:rPr lang="en-US" sz="4000" dirty="0"/>
              <a:t>Do users prefer interactive explanation formats over traditional text-based outputs?</a:t>
            </a:r>
          </a:p>
          <a:p>
            <a:endParaRPr lang="en-US" dirty="0"/>
          </a:p>
        </p:txBody>
      </p:sp>
    </p:spTree>
    <p:extLst>
      <p:ext uri="{BB962C8B-B14F-4D97-AF65-F5344CB8AC3E}">
        <p14:creationId xmlns:p14="http://schemas.microsoft.com/office/powerpoint/2010/main" val="1040029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13BF2-C5D9-4B05-7357-D3FF2F937C7B}"/>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FDCA1D03-A766-7923-953D-4393E5AF49B9}"/>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fontScale="92500"/>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13</a:t>
            </a:fld>
            <a:endParaRPr sz="1600">
              <a:solidFill>
                <a:srgbClr val="1A2835"/>
              </a:solidFill>
              <a:latin typeface="Franklin Gothic"/>
              <a:ea typeface="Franklin Gothic"/>
              <a:cs typeface="Franklin Gothic"/>
              <a:sym typeface="Franklin Gothic"/>
            </a:endParaRPr>
          </a:p>
        </p:txBody>
      </p:sp>
      <p:pic>
        <p:nvPicPr>
          <p:cNvPr id="3" name="Picture 2">
            <a:extLst>
              <a:ext uri="{FF2B5EF4-FFF2-40B4-BE49-F238E27FC236}">
                <a16:creationId xmlns:a16="http://schemas.microsoft.com/office/drawing/2014/main" id="{4F265120-224D-935E-0637-2F7AC58AF26C}"/>
              </a:ext>
            </a:extLst>
          </p:cNvPr>
          <p:cNvPicPr>
            <a:picLocks noChangeAspect="1"/>
          </p:cNvPicPr>
          <p:nvPr/>
        </p:nvPicPr>
        <p:blipFill>
          <a:blip r:embed="rId3"/>
          <a:stretch>
            <a:fillRect/>
          </a:stretch>
        </p:blipFill>
        <p:spPr>
          <a:xfrm>
            <a:off x="886213" y="996990"/>
            <a:ext cx="10419574" cy="5861010"/>
          </a:xfrm>
          <a:prstGeom prst="rect">
            <a:avLst/>
          </a:prstGeom>
        </p:spPr>
      </p:pic>
      <p:sp>
        <p:nvSpPr>
          <p:cNvPr id="4" name="TextBox 3">
            <a:extLst>
              <a:ext uri="{FF2B5EF4-FFF2-40B4-BE49-F238E27FC236}">
                <a16:creationId xmlns:a16="http://schemas.microsoft.com/office/drawing/2014/main" id="{A8439101-8F0A-0B96-F1E3-401E63E8E533}"/>
              </a:ext>
            </a:extLst>
          </p:cNvPr>
          <p:cNvSpPr txBox="1"/>
          <p:nvPr/>
        </p:nvSpPr>
        <p:spPr>
          <a:xfrm>
            <a:off x="653515" y="330396"/>
            <a:ext cx="6561438" cy="523220"/>
          </a:xfrm>
          <a:prstGeom prst="rect">
            <a:avLst/>
          </a:prstGeom>
          <a:noFill/>
        </p:spPr>
        <p:txBody>
          <a:bodyPr wrap="square" rtlCol="0">
            <a:spAutoFit/>
          </a:bodyPr>
          <a:lstStyle/>
          <a:p>
            <a:r>
              <a:rPr lang="en-US" sz="2800" b="1" dirty="0"/>
              <a:t>RQ3 Results</a:t>
            </a:r>
          </a:p>
        </p:txBody>
      </p:sp>
    </p:spTree>
    <p:extLst>
      <p:ext uri="{BB962C8B-B14F-4D97-AF65-F5344CB8AC3E}">
        <p14:creationId xmlns:p14="http://schemas.microsoft.com/office/powerpoint/2010/main" val="915248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A003F-7E6E-6CFC-FC06-EA11404BB903}"/>
            </a:ext>
          </a:extLst>
        </p:cNvPr>
        <p:cNvGrpSpPr/>
        <p:nvPr/>
      </p:nvGrpSpPr>
      <p:grpSpPr>
        <a:xfrm>
          <a:off x="0" y="0"/>
          <a:ext cx="0" cy="0"/>
          <a:chOff x="0" y="0"/>
          <a:chExt cx="0" cy="0"/>
        </a:xfrm>
      </p:grpSpPr>
      <p:sp>
        <p:nvSpPr>
          <p:cNvPr id="2" name="Google Shape;53;p14">
            <a:extLst>
              <a:ext uri="{FF2B5EF4-FFF2-40B4-BE49-F238E27FC236}">
                <a16:creationId xmlns:a16="http://schemas.microsoft.com/office/drawing/2014/main" id="{18BBAD7C-94FE-9BC5-77FE-7243DA0FFAE9}"/>
              </a:ext>
            </a:extLst>
          </p:cNvPr>
          <p:cNvSpPr txBox="1">
            <a:spLocks noGrp="1"/>
          </p:cNvSpPr>
          <p:nvPr>
            <p:ph type="sldNum" idx="12"/>
          </p:nvPr>
        </p:nvSpPr>
        <p:spPr>
          <a:xfrm>
            <a:off x="11433271" y="6086667"/>
            <a:ext cx="444400" cy="524800"/>
          </a:xfrm>
          <a:prstGeom prst="rect">
            <a:avLst/>
          </a:prstGeom>
          <a:noFill/>
          <a:ln>
            <a:noFill/>
          </a:ln>
        </p:spPr>
        <p:txBody>
          <a:bodyPr spcFirstLastPara="1" vert="horz" wrap="square" lIns="121900" tIns="121900" rIns="121900" bIns="121900" rtlCol="0" anchor="ctr" anchorCtr="0">
            <a:normAutofit fontScale="92500"/>
          </a:bodyPr>
          <a:lstStyle/>
          <a:p>
            <a:pPr algn="ctr">
              <a:buSzPts val="1200"/>
            </a:pPr>
            <a:fld id="{00000000-1234-1234-1234-123412341234}" type="slidenum">
              <a:rPr lang="en" sz="1600">
                <a:solidFill>
                  <a:srgbClr val="1A2835"/>
                </a:solidFill>
                <a:latin typeface="Franklin Gothic"/>
                <a:ea typeface="Franklin Gothic"/>
                <a:cs typeface="Franklin Gothic"/>
                <a:sym typeface="Franklin Gothic"/>
              </a:rPr>
              <a:pPr algn="ctr">
                <a:buSzPts val="1200"/>
              </a:pPr>
              <a:t>14</a:t>
            </a:fld>
            <a:endParaRPr sz="1600">
              <a:solidFill>
                <a:srgbClr val="1A2835"/>
              </a:solidFill>
              <a:latin typeface="Franklin Gothic"/>
              <a:ea typeface="Franklin Gothic"/>
              <a:cs typeface="Franklin Gothic"/>
              <a:sym typeface="Franklin Gothic"/>
            </a:endParaRPr>
          </a:p>
        </p:txBody>
      </p:sp>
      <p:sp>
        <p:nvSpPr>
          <p:cNvPr id="3" name="TextBox 2">
            <a:extLst>
              <a:ext uri="{FF2B5EF4-FFF2-40B4-BE49-F238E27FC236}">
                <a16:creationId xmlns:a16="http://schemas.microsoft.com/office/drawing/2014/main" id="{9A73F0CE-1148-4312-F109-4D2BA29BE376}"/>
              </a:ext>
            </a:extLst>
          </p:cNvPr>
          <p:cNvSpPr txBox="1"/>
          <p:nvPr/>
        </p:nvSpPr>
        <p:spPr>
          <a:xfrm>
            <a:off x="609600" y="306853"/>
            <a:ext cx="9218140" cy="984885"/>
          </a:xfrm>
          <a:prstGeom prst="rect">
            <a:avLst/>
          </a:prstGeom>
          <a:noFill/>
        </p:spPr>
        <p:txBody>
          <a:bodyPr wrap="square" rtlCol="0">
            <a:spAutoFit/>
          </a:bodyPr>
          <a:lstStyle/>
          <a:p>
            <a:r>
              <a:rPr lang="en-US" sz="4000" b="1" dirty="0"/>
              <a:t>Conclusion</a:t>
            </a:r>
            <a:endParaRPr lang="en-US" sz="4000" dirty="0"/>
          </a:p>
          <a:p>
            <a:endParaRPr lang="en-US" dirty="0"/>
          </a:p>
        </p:txBody>
      </p:sp>
      <p:sp>
        <p:nvSpPr>
          <p:cNvPr id="4" name="TextBox 3">
            <a:extLst>
              <a:ext uri="{FF2B5EF4-FFF2-40B4-BE49-F238E27FC236}">
                <a16:creationId xmlns:a16="http://schemas.microsoft.com/office/drawing/2014/main" id="{8F235910-F882-5C5D-29F8-140B46622EFE}"/>
              </a:ext>
            </a:extLst>
          </p:cNvPr>
          <p:cNvSpPr txBox="1"/>
          <p:nvPr/>
        </p:nvSpPr>
        <p:spPr>
          <a:xfrm>
            <a:off x="609600" y="2211859"/>
            <a:ext cx="10696832" cy="2246769"/>
          </a:xfrm>
          <a:prstGeom prst="rect">
            <a:avLst/>
          </a:prstGeom>
          <a:noFill/>
        </p:spPr>
        <p:txBody>
          <a:bodyPr wrap="square" rtlCol="0">
            <a:spAutoFit/>
          </a:bodyPr>
          <a:lstStyle/>
          <a:p>
            <a:pPr marL="342900" indent="-342900">
              <a:buAutoNum type="arabicPeriod"/>
            </a:pPr>
            <a:r>
              <a:rPr lang="en-US" sz="2800" dirty="0"/>
              <a:t>Interactive explanations improve verification accuracy.</a:t>
            </a:r>
          </a:p>
          <a:p>
            <a:pPr marL="342900" indent="-342900">
              <a:buAutoNum type="arabicPeriod"/>
            </a:pPr>
            <a:r>
              <a:rPr lang="en-US" sz="2800" dirty="0"/>
              <a:t>Participants using interactive explanations respond faster on average, but the time differences are not statistically significant.</a:t>
            </a:r>
          </a:p>
          <a:p>
            <a:pPr marL="342900" indent="-342900">
              <a:buAutoNum type="arabicPeriod"/>
            </a:pPr>
            <a:r>
              <a:rPr lang="en-US" sz="2800" dirty="0"/>
              <a:t> Users prefer interactive interfaces (</a:t>
            </a:r>
            <a:r>
              <a:rPr lang="en-US" sz="2800" dirty="0" err="1"/>
              <a:t>iGraph</a:t>
            </a:r>
            <a:r>
              <a:rPr lang="en-US" sz="2800" dirty="0"/>
              <a:t>, </a:t>
            </a:r>
            <a:r>
              <a:rPr lang="en-US" sz="2800" dirty="0" err="1"/>
              <a:t>iPoT</a:t>
            </a:r>
            <a:r>
              <a:rPr lang="en-US" sz="2800" dirty="0"/>
              <a:t>, </a:t>
            </a:r>
            <a:r>
              <a:rPr lang="en-US" sz="2800" dirty="0" err="1"/>
              <a:t>iCoT</a:t>
            </a:r>
            <a:r>
              <a:rPr lang="en-US" sz="2800" dirty="0"/>
              <a:t>) over the traditional </a:t>
            </a:r>
            <a:r>
              <a:rPr lang="en-US" sz="2800" dirty="0" err="1"/>
              <a:t>CoT</a:t>
            </a:r>
            <a:r>
              <a:rPr lang="en-US" sz="2800" dirty="0"/>
              <a:t> format.</a:t>
            </a:r>
          </a:p>
        </p:txBody>
      </p:sp>
    </p:spTree>
    <p:extLst>
      <p:ext uri="{BB962C8B-B14F-4D97-AF65-F5344CB8AC3E}">
        <p14:creationId xmlns:p14="http://schemas.microsoft.com/office/powerpoint/2010/main" val="9299324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Badge</Template>
  <TotalTime>16729</TotalTime>
  <Words>1680</Words>
  <Application>Microsoft Macintosh PowerPoint</Application>
  <PresentationFormat>Widescreen</PresentationFormat>
  <Paragraphs>97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Franklin Gothic</vt:lpstr>
      <vt:lpstr>Office Theme</vt:lpstr>
      <vt:lpstr>Improving Human Verification of LLM Reasoning through Interactive Explanation Interfaces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Zhou, Runtao</dc:creator>
  <cp:lastModifiedBy>Zhou, Runtao</cp:lastModifiedBy>
  <cp:revision>7</cp:revision>
  <dcterms:created xsi:type="dcterms:W3CDTF">2025-10-19T04:56:43Z</dcterms:created>
  <dcterms:modified xsi:type="dcterms:W3CDTF">2025-10-30T19:46:34Z</dcterms:modified>
</cp:coreProperties>
</file>